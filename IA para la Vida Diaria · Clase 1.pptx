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 el módulo: 4 clases de 3 horas, mucha práctica y todo con herramientas gratuitas. Antes de empezar, verifica que cada alumno tenga su cuenta de Gmail y acceso a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la agenda para que los alumnos sepan qué viene. Aclara que hay un descanso de 10 minutos y que la mayor parte de la clase es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Reglas: votan levantando la mano, sin hablar entre ellos. Muestra los pares, deja 20 segundos para votar y revela la respuesta. Consejo: genera los textos de IA el día anterior con un chatbot, con temas cercanos al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plantilla: reemplaza los textos entre corchetes con tus pares preparados y duplica la diapositiva para los pares 2 a 4. También puedes usar imágenes en lugar de texto. Cambia de lugar el texto de IA entre pares para que no sea siempre la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Pide primero que ellos digan las pistas y luego complementa con esta lista. Cierra con la idea de que no hay forma perfecta de distinguir: por eso aprenderemos a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simple y sin tecnicismos. Pregunta al grupo: ¿alguna vez le enseñaste algo a alguien mostrándole muchos ejemplos en lugar de explicar reglas? Eso es parecido a cómo aprende una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Contrasta las dos formas de hacer que una máquina resuelva un problema. Insiste en el último punto de cada tarjeta: el programa normal es predecible; la IA es útil pero puede fallar.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central de la clase. Cambia la analogía si tu grupo se relaciona más con otra actividad (por ejemplo, un cocinero que prueba y ajusta, o un mecánico que reconoce un ruido). La palabra clave es entrenar: mostrar muchos ejemplos.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Distingue la IA que clasifica o predice (spam, mapas, recomendaciones) de la generativa, que crea contenido nuevo. Esta última es la que verán en las próximas clases. La línea de tiempo es solo un dato de contexto, no hace falta memorizarla.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Reproduce el video en la pantalla, que dura unos 5 minutos. Después, dos minutos de conversación: cada persona comparte la cosa que no sabía. Si no hay internet, cuenta la idea con tus propias palabras usando la analogía del catador.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tarjetas son pistas para quienes se atasquen; deja que primero busquen solos. Dale 10 minutos y luego 15 de puesta en común: pide que cada pareja diga un uso que nadie más haya mencionado y anótalos en el tablero.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Escribe la hora de regreso en el espacio entre corchetes. Aprovecha para que quien no tenga Gmail termine de crear su cuenta, y deja la cámara de los computadores o celulares lista para la siguiente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 la demostración tú primero durante 3 minutos. Cada pareja entrena un modelo con dos clases; pueden usar dos objetos del salón en lugar de las manos. Si la cámara no funciona, usen Quick, Draw! (quickdraw.withgoogle.com) como alternativa.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de la práctica. Que cada pareja compare los resultados con pocos y con muchos ejemplos, y con ejemplos variados (distintas posiciones y fondos). Conecta con el sesgo: si los ejemplos son pobres, la IA queda pobre o injusta.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que todos entren a Gemini con su Gmail; las otras dos son opcionales. Recorre el salón para ayudar con el inicio de sesión. Los planes gratuitos tienen límites que pueden cambiar, así que tener dos chatbots evita quedarse sin cuota.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copien cada pregunta tal cual para ver cómo responde. Después pueden pedir cambios: más corto, más formal, con otro tono. Aún no enseñamos la fórmula del prompt; eso será en la clase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5 es de un tema local; sirve para comparar la respuesta con lo que ellos saben. Reserva unos 10 minutos para que escriban su pregunta propia y compartan voluntariamente qué les respondió.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Ambos datos son inventados a propósito (el libro y el personaje no existen). Mira si el chatbot los inventa con seguridad o dice que no tiene información. Cualquier resultado sirve para la lección: algunas herramientas son más cuidadosas que otras, pero ninguna es perfecta.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el reto explicando el término. Mensaje clave: la IA suena segura aun cuando se equivoca, así que la responsabilidad de revisar es de la persona. En la clase 2 aprenderán la regla de las dos fuentes.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1: No; detecta patrones en muchos datos y predice la respuesta más probable, puede sonar convincente sin entender. 2: Una respuesta inventada presentada con total seguridad. 3: Respuesta libre (teclado, mapas, recomendaciones, filtro de spam, desbloqueo facial). 4: Se equivoca más y puede quedar sesgada hacia lo poco que vio.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fila es un ejemplo. La bitácora está en el material del alumno. En la próxima clase pide a dos o tres voluntarios que cuenten qué hicieron.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 la participación, recuerda la tarea y confirma fecha y hora de la próxima clase. Pide que traigan su celular cargado y su cuenta de chatbot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F5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2201D"/>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12201D"/>
                </a:solidFill>
                <a:latin typeface="Source Sans 3" pitchFamily="34" charset="0"/>
                <a:ea typeface="Source Sans 3" pitchFamily="34" charset="-122"/>
                <a:cs typeface="Source Sans 3"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5F3"/>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XuWMWPwdlik" TargetMode="External"/><Relationship Id="rId1"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D1B5"/>
                </a:solidFill>
                <a:latin typeface="JetBrains Mono" pitchFamily="49" charset="0"/>
                <a:ea typeface="JetBrains Mono" pitchFamily="49" charset="-122"/>
                <a:cs typeface="JetBrains Mono" pitchFamily="49" charset="-120"/>
              </a:rPr>
              <a:t>MÓDULO DE FORMACIÓN · CLASE 1 DE 4</a:t>
            </a:r>
            <a:endParaRPr lang="en-US" sz="1200" dirty="0"/>
          </a:p>
        </p:txBody>
      </p:sp>
      <p:sp>
        <p:nvSpPr>
          <p:cNvPr id="3" name="Text 1"/>
          <p:cNvSpPr/>
          <p:nvPr>
            <p:ph type="title"/>
          </p:nvPr>
        </p:nvSpPr>
        <p:spPr>
          <a:xfrm>
            <a:off x="812800" y="2635349"/>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E6EFEC"/>
                </a:solidFill>
                <a:latin typeface="Bricolage Grotesque" pitchFamily="34" charset="0"/>
                <a:ea typeface="Bricolage Grotesque" pitchFamily="34" charset="-122"/>
                <a:cs typeface="Bricolage Grotesque" pitchFamily="34" charset="-120"/>
              </a:rPr>
              <a:t>IA para la vida diaria</a:t>
            </a:r>
            <a:endParaRPr lang="en-US" sz="5600" dirty="0"/>
          </a:p>
        </p:txBody>
      </p:sp>
      <p:sp>
        <p:nvSpPr>
          <p:cNvPr id="4" name="Text 2"/>
          <p:cNvSpPr/>
          <p:nvPr/>
        </p:nvSpPr>
        <p:spPr>
          <a:xfrm>
            <a:off x="812800" y="358527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8D5"/>
                </a:solidFill>
                <a:latin typeface="Source Sans 3" pitchFamily="34" charset="0"/>
                <a:ea typeface="Source Sans 3" pitchFamily="34" charset="-122"/>
                <a:cs typeface="Source Sans 3" pitchFamily="34" charset="-120"/>
              </a:rPr>
              <a:t>Conociendo la IA: qué es, qué no es y mi primer chat</a:t>
            </a:r>
            <a:endParaRPr lang="en-US" sz="2200" dirty="0"/>
          </a:p>
        </p:txBody>
      </p:sp>
      <p:sp>
        <p:nvSpPr>
          <p:cNvPr id="5" name="Text 3"/>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B632"/>
                </a:solidFill>
                <a:latin typeface="Source Sans 3" pitchFamily="34" charset="0"/>
                <a:ea typeface="Source Sans 3" pitchFamily="34" charset="-122"/>
                <a:cs typeface="Source Sans 3" pitchFamily="34" charset="-120"/>
              </a:rPr>
              <a:t>3 horas · Todo con herramientas gratuitas</a:t>
            </a:r>
            <a:endParaRPr lang="en-US" sz="1600" dirty="0"/>
          </a:p>
        </p:txBody>
      </p:sp>
      <p:pic>
        <p:nvPicPr>
          <p:cNvPr id="6" name="Image 0" descr="Lightbulb">    </p:cNvPr>
          <p:cNvPicPr>
            <a:picLocks noChangeAspect="1"/>
          </p:cNvPicPr>
          <p:nvPr/>
        </p:nvPicPr>
        <p:blipFill>
          <a:blip r:embed="rId1"/>
          <a:srcRect l="0" r="0" t="0" b="0"/>
          <a:stretch/>
        </p:blipFill>
        <p:spPr>
          <a:xfrm>
            <a:off x="10363200" y="812800"/>
            <a:ext cx="1016000" cy="1016000"/>
          </a:xfrm>
          <a:prstGeom prst="rect">
            <a:avLst/>
          </a:prstGeom>
        </p:spPr>
      </p:pic>
      <p:pic>
        <p:nvPicPr>
          <p:cNvPr id="7" name="Image 1" descr="Logo de Studio-IA">    </p:cNvPr>
          <p:cNvPicPr>
            <a:picLocks noChangeAspect="1"/>
          </p:cNvPicPr>
          <p:nvPr/>
        </p:nvPicPr>
        <p:blipFill>
          <a:blip r:embed="rId2"/>
          <a:srcRect l="0" r="0" t="-62" b="-62"/>
          <a:stretch/>
        </p:blipFill>
        <p:spPr>
          <a:xfrm>
            <a:off x="9601200" y="6134100"/>
            <a:ext cx="1778000" cy="419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Hoy en tres horas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82341"/>
          <a:ext cx="10553700" cy="3953173"/>
        </p:xfrm>
        <a:graphic>
          <a:graphicData uri="http://schemas.openxmlformats.org/drawingml/2006/table">
            <a:tbl>
              <a:tblPr/>
              <a:tblGrid>
                <a:gridCol w="2110740"/>
                <a:gridCol w="8442960"/>
              </a:tblGrid>
              <a:tr h="439241">
                <a:tc>
                  <a:txBody>
                    <a:bodyPr/>
                    <a:lstStyle/>
                    <a:p>
                      <a:pPr indent="0" marL="0">
                        <a:lnSpc>
                          <a:spcPts val="2240"/>
                        </a:lnSpc>
                        <a:buNone/>
                      </a:pPr>
                      <a:r>
                        <a:rPr lang="en-US" sz="1600" b="1" dirty="0">
                          <a:solidFill>
                            <a:srgbClr val="52625E"/>
                          </a:solidFill>
                          <a:latin typeface="Source Sans 3" pitchFamily="34" charset="0"/>
                          <a:ea typeface="Source Sans 3" pitchFamily="34" charset="-122"/>
                          <a:cs typeface="Source Sans 3" pitchFamily="34" charset="-120"/>
                        </a:rPr>
                        <a:t>Hora</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B3B5B4"/>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B3B5B4"/>
                      </a:solidFill>
                      <a:prstDash val="solid"/>
                      <a:round/>
                      <a:headEnd type="none" w="med" len="med"/>
                      <a:tailEnd type="none" w="med" len="med"/>
                    </a:lnB>
                    <a:solidFill>
                      <a:srgbClr val="E0E3E1"/>
                    </a:solidFill>
                  </a:tcPr>
                </a:tc>
                <a:tc>
                  <a:txBody>
                    <a:bodyPr/>
                    <a:lstStyle/>
                    <a:p>
                      <a:pPr indent="0" marL="0">
                        <a:lnSpc>
                          <a:spcPts val="2240"/>
                        </a:lnSpc>
                        <a:buNone/>
                      </a:pPr>
                      <a:r>
                        <a:rPr lang="en-US" sz="1600" b="1" dirty="0">
                          <a:solidFill>
                            <a:srgbClr val="52625E"/>
                          </a:solidFill>
                          <a:latin typeface="Source Sans 3" pitchFamily="34" charset="0"/>
                          <a:ea typeface="Source Sans 3" pitchFamily="34" charset="-122"/>
                          <a:cs typeface="Source Sans 3" pitchFamily="34" charset="-120"/>
                        </a:rPr>
                        <a:t>Qué hacemos</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B3B5B4"/>
                      </a:solidFill>
                      <a:prstDash val="solid"/>
                      <a:round/>
                      <a:headEnd type="none" w="med" len="med"/>
                      <a:tailEnd type="none" w="med" len="med"/>
                    </a:lnL>
                    <a:lnR w="12700" cap="flat" cmpd="sng" algn="ctr">
                      <a:solidFill>
                        <a:srgbClr val="B3B5B4"/>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B3B5B4"/>
                      </a:solidFill>
                      <a:prstDash val="solid"/>
                      <a:round/>
                      <a:headEnd type="none" w="med" len="med"/>
                      <a:tailEnd type="none" w="med" len="med"/>
                    </a:lnB>
                    <a:solidFill>
                      <a:srgbClr val="E0E3E1"/>
                    </a:solidFill>
                  </a:tcPr>
                </a:tc>
              </a:tr>
              <a:tr h="439241">
                <a:tc>
                  <a:txBody>
                    <a:bodyPr/>
                    <a:lstStyle/>
                    <a:p>
                      <a:pPr indent="0" marL="0">
                        <a:lnSpc>
                          <a:spcPts val="2240"/>
                        </a:lnSpc>
                        <a:buNone/>
                      </a:pPr>
                      <a:r>
                        <a:rPr lang="en-US" sz="1600" dirty="0">
                          <a:solidFill>
                            <a:srgbClr val="0B6B5D"/>
                          </a:solidFill>
                          <a:latin typeface="Source Sans 3" pitchFamily="34" charset="0"/>
                          <a:ea typeface="Source Sans 3" pitchFamily="34" charset="-122"/>
                          <a:cs typeface="Source Sans 3" pitchFamily="34" charset="-120"/>
                        </a:rPr>
                        <a:t>0:00</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B3B5B4"/>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¿Humano o IA? Juego de apertura</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B3B5B4"/>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r>
              <a:tr h="439241">
                <a:tc>
                  <a:txBody>
                    <a:bodyPr/>
                    <a:lstStyle/>
                    <a:p>
                      <a:pPr indent="0" marL="0">
                        <a:lnSpc>
                          <a:spcPts val="2240"/>
                        </a:lnSpc>
                        <a:buNone/>
                      </a:pPr>
                      <a:r>
                        <a:rPr lang="en-US" sz="1600" dirty="0">
                          <a:solidFill>
                            <a:srgbClr val="0B6B5D"/>
                          </a:solidFill>
                          <a:latin typeface="Source Sans 3" pitchFamily="34" charset="0"/>
                          <a:ea typeface="Source Sans 3" pitchFamily="34" charset="-122"/>
                          <a:cs typeface="Source Sans 3" pitchFamily="34" charset="-120"/>
                        </a:rPr>
                        <a:t>0:15</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¿Qué es la inteligencia artificial?</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r>
              <a:tr h="439241">
                <a:tc>
                  <a:txBody>
                    <a:bodyPr/>
                    <a:lstStyle/>
                    <a:p>
                      <a:pPr indent="0" marL="0">
                        <a:lnSpc>
                          <a:spcPts val="2240"/>
                        </a:lnSpc>
                        <a:buNone/>
                      </a:pPr>
                      <a:r>
                        <a:rPr lang="en-US" sz="1600" dirty="0">
                          <a:solidFill>
                            <a:srgbClr val="0B6B5D"/>
                          </a:solidFill>
                          <a:latin typeface="Source Sans 3" pitchFamily="34" charset="0"/>
                          <a:ea typeface="Source Sans 3" pitchFamily="34" charset="-122"/>
                          <a:cs typeface="Source Sans 3" pitchFamily="34" charset="-120"/>
                        </a:rPr>
                        <a:t>0:40</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Cacería de IA en tu celular</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r>
              <a:tr h="439241">
                <a:tc>
                  <a:txBody>
                    <a:bodyPr/>
                    <a:lstStyle/>
                    <a:p>
                      <a:pPr indent="0" marL="0">
                        <a:lnSpc>
                          <a:spcPts val="2240"/>
                        </a:lnSpc>
                        <a:buNone/>
                      </a:pPr>
                      <a:r>
                        <a:rPr lang="en-US" sz="1600" dirty="0">
                          <a:solidFill>
                            <a:srgbClr val="0B6B5D"/>
                          </a:solidFill>
                          <a:latin typeface="Source Sans 3" pitchFamily="34" charset="0"/>
                          <a:ea typeface="Source Sans 3" pitchFamily="34" charset="-122"/>
                          <a:cs typeface="Source Sans 3" pitchFamily="34" charset="-120"/>
                        </a:rPr>
                        <a:t>1:05</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Descanso</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r>
              <a:tr h="439241">
                <a:tc>
                  <a:txBody>
                    <a:bodyPr/>
                    <a:lstStyle/>
                    <a:p>
                      <a:pPr indent="0" marL="0">
                        <a:lnSpc>
                          <a:spcPts val="2240"/>
                        </a:lnSpc>
                        <a:buNone/>
                      </a:pPr>
                      <a:r>
                        <a:rPr lang="en-US" sz="1600" dirty="0">
                          <a:solidFill>
                            <a:srgbClr val="0B6B5D"/>
                          </a:solidFill>
                          <a:latin typeface="Source Sans 3" pitchFamily="34" charset="0"/>
                          <a:ea typeface="Source Sans 3" pitchFamily="34" charset="-122"/>
                          <a:cs typeface="Source Sans 3" pitchFamily="34" charset="-120"/>
                        </a:rPr>
                        <a:t>1:15</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Entrena tu propia IA</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r>
              <a:tr h="439241">
                <a:tc>
                  <a:txBody>
                    <a:bodyPr/>
                    <a:lstStyle/>
                    <a:p>
                      <a:pPr indent="0" marL="0">
                        <a:lnSpc>
                          <a:spcPts val="2240"/>
                        </a:lnSpc>
                        <a:buNone/>
                      </a:pPr>
                      <a:r>
                        <a:rPr lang="en-US" sz="1600" dirty="0">
                          <a:solidFill>
                            <a:srgbClr val="0B6B5D"/>
                          </a:solidFill>
                          <a:latin typeface="Source Sans 3" pitchFamily="34" charset="0"/>
                          <a:ea typeface="Source Sans 3" pitchFamily="34" charset="-122"/>
                          <a:cs typeface="Source Sans 3" pitchFamily="34" charset="-120"/>
                        </a:rPr>
                        <a:t>1:45</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Mi primer chat con una IA</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r>
              <a:tr h="439241">
                <a:tc>
                  <a:txBody>
                    <a:bodyPr/>
                    <a:lstStyle/>
                    <a:p>
                      <a:pPr indent="0" marL="0">
                        <a:lnSpc>
                          <a:spcPts val="2240"/>
                        </a:lnSpc>
                        <a:buNone/>
                      </a:pPr>
                      <a:r>
                        <a:rPr lang="en-US" sz="1600" dirty="0">
                          <a:solidFill>
                            <a:srgbClr val="0B6B5D"/>
                          </a:solidFill>
                          <a:latin typeface="Source Sans 3" pitchFamily="34" charset="0"/>
                          <a:ea typeface="Source Sans 3" pitchFamily="34" charset="-122"/>
                          <a:cs typeface="Source Sans 3" pitchFamily="34" charset="-120"/>
                        </a:rPr>
                        <a:t>2:20</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Pilla a la IA</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r>
              <a:tr h="439241">
                <a:tc>
                  <a:txBody>
                    <a:bodyPr/>
                    <a:lstStyle/>
                    <a:p>
                      <a:pPr indent="0" marL="0">
                        <a:lnSpc>
                          <a:spcPts val="2240"/>
                        </a:lnSpc>
                        <a:buNone/>
                      </a:pPr>
                      <a:r>
                        <a:rPr lang="en-US" sz="1600" dirty="0">
                          <a:solidFill>
                            <a:srgbClr val="0B6B5D"/>
                          </a:solidFill>
                          <a:latin typeface="Source Sans 3" pitchFamily="34" charset="0"/>
                          <a:ea typeface="Source Sans 3" pitchFamily="34" charset="-122"/>
                          <a:cs typeface="Source Sans 3" pitchFamily="34" charset="-120"/>
                        </a:rPr>
                        <a:t>2:40</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Quiz relámpago y tarea</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r>
            </a:tbl>
          </a:graphicData>
        </a:graphic>
      </p:graphicFrame>
      <p:sp>
        <p:nvSpPr>
          <p:cNvPr id="4" name="Text 1"/>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5"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6B5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6D77A"/>
                </a:solidFill>
                <a:latin typeface="JetBrains Mono" pitchFamily="49" charset="0"/>
                <a:ea typeface="JetBrains Mono" pitchFamily="49" charset="-122"/>
                <a:cs typeface="JetBrains Mono" pitchFamily="49" charset="-120"/>
              </a:rPr>
              <a:t>0:00 – 0:15 · DINÁMICA</a:t>
            </a:r>
            <a:endParaRPr lang="en-US" sz="1200" dirty="0"/>
          </a:p>
        </p:txBody>
      </p:sp>
      <p:sp>
        <p:nvSpPr>
          <p:cNvPr id="3" name="Text 1"/>
          <p:cNvSpPr/>
          <p:nvPr>
            <p:ph type="title"/>
          </p:nvPr>
        </p:nvSpPr>
        <p:spPr>
          <a:xfrm>
            <a:off x="812800" y="117852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FFFFF"/>
                </a:solidFill>
                <a:latin typeface="Bricolage Grotesque" pitchFamily="34" charset="0"/>
                <a:ea typeface="Bricolage Grotesque" pitchFamily="34" charset="-122"/>
                <a:cs typeface="Bricolage Grotesque" pitchFamily="34" charset="-120"/>
              </a:rPr>
              <a:t>¿Humano o IA?</a:t>
            </a:r>
            <a:endParaRPr lang="en-US" sz="5600" dirty="0"/>
          </a:p>
        </p:txBody>
      </p:sp>
      <p:sp>
        <p:nvSpPr>
          <p:cNvPr id="4" name="Text 2"/>
          <p:cNvSpPr/>
          <p:nvPr/>
        </p:nvSpPr>
        <p:spPr>
          <a:xfrm>
            <a:off x="812800" y="5115719"/>
            <a:ext cx="10883392"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FFFFF"/>
                </a:solidFill>
                <a:latin typeface="Source Sans 3" pitchFamily="34" charset="0"/>
                <a:ea typeface="Source Sans 3" pitchFamily="34" charset="-122"/>
                <a:cs typeface="Source Sans 3" pitchFamily="34" charset="-120"/>
              </a:rPr>
              <a:t>Te mostramos dos opciones. Una la hizo una persona y otra una inteligencia artificial. Levanta la mano: ¿A o B?</a:t>
            </a:r>
            <a:endParaRPr lang="en-US" sz="2200" dirty="0"/>
          </a:p>
        </p:txBody>
      </p:sp>
      <p:sp>
        <p:nvSpPr>
          <p:cNvPr id="5" name="Text 3"/>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8EFE9"/>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6"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0:00 – 0:15 · DINÁMICA</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Par 1: ¿cuál lo escribió una IA?</a:t>
            </a:r>
            <a:endParaRPr lang="en-US" sz="3600" dirty="0"/>
          </a:p>
        </p:txBody>
      </p:sp>
      <p:sp>
        <p:nvSpPr>
          <p:cNvPr id="4" name="Shape 2"/>
          <p:cNvSpPr/>
          <p:nvPr/>
        </p:nvSpPr>
        <p:spPr>
          <a:xfrm>
            <a:off x="815975" y="1862336"/>
            <a:ext cx="5175250" cy="1733451"/>
          </a:xfrm>
          <a:prstGeom prst="roundRect">
            <a:avLst>
              <a:gd name="adj" fmla="val 5678"/>
            </a:avLst>
          </a:prstGeom>
          <a:solidFill>
            <a:srgbClr val="FFFFFF"/>
          </a:solidFill>
          <a:ln w="6350">
            <a:solidFill>
              <a:srgbClr val="D3DDD9"/>
            </a:solidFill>
            <a:prstDash val="solid"/>
          </a:ln>
        </p:spPr>
      </p:sp>
      <p:sp>
        <p:nvSpPr>
          <p:cNvPr id="5" name="Text 3"/>
          <p:cNvSpPr/>
          <p:nvPr/>
        </p:nvSpPr>
        <p:spPr>
          <a:xfrm>
            <a:off x="1073150" y="2119511"/>
            <a:ext cx="4800727"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0B6B5D"/>
                </a:solidFill>
                <a:latin typeface="Bricolage Grotesque" pitchFamily="34" charset="0"/>
                <a:ea typeface="Bricolage Grotesque" pitchFamily="34" charset="-122"/>
                <a:cs typeface="Bricolage Grotesque" pitchFamily="34" charset="-120"/>
              </a:rPr>
              <a:t>A</a:t>
            </a:r>
            <a:endParaRPr lang="en-US" sz="3600" dirty="0"/>
          </a:p>
        </p:txBody>
      </p:sp>
      <p:sp>
        <p:nvSpPr>
          <p:cNvPr id="6" name="Text 4"/>
          <p:cNvSpPr/>
          <p:nvPr/>
        </p:nvSpPr>
        <p:spPr>
          <a:xfrm>
            <a:off x="1073150" y="276969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[Pega aquí el texto A. Por ejemplo, un aviso de venta o un saludo.]</a:t>
            </a:r>
            <a:endParaRPr lang="en-US" sz="1600" dirty="0"/>
          </a:p>
        </p:txBody>
      </p:sp>
      <p:sp>
        <p:nvSpPr>
          <p:cNvPr id="7" name="Shape 5"/>
          <p:cNvSpPr/>
          <p:nvPr/>
        </p:nvSpPr>
        <p:spPr>
          <a:xfrm>
            <a:off x="6200775" y="1862336"/>
            <a:ext cx="5175250" cy="1733451"/>
          </a:xfrm>
          <a:prstGeom prst="roundRect">
            <a:avLst>
              <a:gd name="adj" fmla="val 5678"/>
            </a:avLst>
          </a:prstGeom>
          <a:solidFill>
            <a:srgbClr val="FFFFFF"/>
          </a:solidFill>
          <a:ln w="6350">
            <a:solidFill>
              <a:srgbClr val="D3DDD9"/>
            </a:solidFill>
            <a:prstDash val="solid"/>
          </a:ln>
        </p:spPr>
      </p:sp>
      <p:sp>
        <p:nvSpPr>
          <p:cNvPr id="8" name="Text 6"/>
          <p:cNvSpPr/>
          <p:nvPr/>
        </p:nvSpPr>
        <p:spPr>
          <a:xfrm>
            <a:off x="6457950" y="2119511"/>
            <a:ext cx="4800727"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C8553D"/>
                </a:solidFill>
                <a:latin typeface="Bricolage Grotesque" pitchFamily="34" charset="0"/>
                <a:ea typeface="Bricolage Grotesque" pitchFamily="34" charset="-122"/>
                <a:cs typeface="Bricolage Grotesque" pitchFamily="34" charset="-120"/>
              </a:rPr>
              <a:t>B</a:t>
            </a:r>
            <a:endParaRPr lang="en-US" sz="3600" dirty="0"/>
          </a:p>
        </p:txBody>
      </p:sp>
      <p:sp>
        <p:nvSpPr>
          <p:cNvPr id="9" name="Text 7"/>
          <p:cNvSpPr/>
          <p:nvPr/>
        </p:nvSpPr>
        <p:spPr>
          <a:xfrm>
            <a:off x="6457950" y="2769691"/>
            <a:ext cx="48007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[Pega aquí el texto B, del otro autor.]</a:t>
            </a:r>
            <a:endParaRPr lang="en-US" sz="1600" dirty="0"/>
          </a:p>
        </p:txBody>
      </p:sp>
      <p:sp>
        <p:nvSpPr>
          <p:cNvPr id="10" name="Text 8"/>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11"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0:00 – 0:15 · DINÁMICA</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¿Qué pistas nos hicieron dudar?</a:t>
            </a:r>
            <a:endParaRPr lang="en-US" sz="3600" dirty="0"/>
          </a:p>
        </p:txBody>
      </p:sp>
      <p:sp>
        <p:nvSpPr>
          <p:cNvPr id="4" name="Text 2"/>
          <p:cNvSpPr/>
          <p:nvPr/>
        </p:nvSpPr>
        <p:spPr>
          <a:xfrm>
            <a:off x="815975" y="1862336"/>
            <a:ext cx="5200650" cy="748010"/>
          </a:xfrm>
          <a:prstGeom prst="roundRect">
            <a:avLst>
              <a:gd name="adj" fmla="val 13158"/>
            </a:avLst>
          </a:prstGeom>
          <a:solidFill>
            <a:srgbClr val="FFFFFF"/>
          </a:solidFill>
          <a:ln w="6350">
            <a:solidFill>
              <a:srgbClr val="D3DDD9"/>
            </a:solidFill>
            <a:prstDash val="solid"/>
          </a:ln>
        </p:spPr>
        <p:txBody>
          <a:bodyPr wrap="square" lIns="228347" tIns="177547" rIns="87758" bIns="152147" rtlCol="0" anchor="t">
            <a:normAutofit/>
          </a:bodyPr>
          <a:lstStyle/>
          <a:p>
            <a:pPr algn="l" indent="0" marL="0">
              <a:lnSpc>
                <a:spcPts val="2640"/>
              </a:lnSpc>
              <a:buNone/>
            </a:pPr>
            <a:r>
              <a:rPr lang="en-US" sz="2200" b="1" dirty="0">
                <a:solidFill>
                  <a:srgbClr val="12201D"/>
                </a:solidFill>
                <a:latin typeface="Source Sans 3" pitchFamily="34" charset="0"/>
                <a:ea typeface="Source Sans 3" pitchFamily="34" charset="-122"/>
                <a:cs typeface="Source Sans 3" pitchFamily="34" charset="-120"/>
              </a:rPr>
              <a:t>Muy ordenado y neutro</a:t>
            </a:r>
            <a:endParaRPr lang="en-US" sz="2200" dirty="0"/>
          </a:p>
        </p:txBody>
      </p:sp>
      <p:sp>
        <p:nvSpPr>
          <p:cNvPr id="5" name="Text 3"/>
          <p:cNvSpPr/>
          <p:nvPr/>
        </p:nvSpPr>
        <p:spPr>
          <a:xfrm>
            <a:off x="6175375" y="1862336"/>
            <a:ext cx="5200650" cy="748010"/>
          </a:xfrm>
          <a:prstGeom prst="roundRect">
            <a:avLst>
              <a:gd name="adj" fmla="val 13158"/>
            </a:avLst>
          </a:prstGeom>
          <a:solidFill>
            <a:srgbClr val="FFFFFF"/>
          </a:solidFill>
          <a:ln w="6350">
            <a:solidFill>
              <a:srgbClr val="D3DDD9"/>
            </a:solidFill>
            <a:prstDash val="solid"/>
          </a:ln>
        </p:spPr>
        <p:txBody>
          <a:bodyPr wrap="square" lIns="228347" tIns="177547" rIns="87758" bIns="152147" rtlCol="0" anchor="t">
            <a:normAutofit/>
          </a:bodyPr>
          <a:lstStyle/>
          <a:p>
            <a:pPr algn="l" indent="0" marL="0">
              <a:lnSpc>
                <a:spcPts val="2640"/>
              </a:lnSpc>
              <a:buNone/>
            </a:pPr>
            <a:r>
              <a:rPr lang="en-US" sz="2200" b="1" dirty="0">
                <a:solidFill>
                  <a:srgbClr val="12201D"/>
                </a:solidFill>
                <a:latin typeface="Source Sans 3" pitchFamily="34" charset="0"/>
                <a:ea typeface="Source Sans 3" pitchFamily="34" charset="-122"/>
                <a:cs typeface="Source Sans 3" pitchFamily="34" charset="-120"/>
              </a:rPr>
              <a:t>Pocos detalles personales</a:t>
            </a:r>
            <a:endParaRPr lang="en-US" sz="2200" dirty="0"/>
          </a:p>
        </p:txBody>
      </p:sp>
      <p:sp>
        <p:nvSpPr>
          <p:cNvPr id="6" name="Text 4"/>
          <p:cNvSpPr/>
          <p:nvPr/>
        </p:nvSpPr>
        <p:spPr>
          <a:xfrm>
            <a:off x="815975" y="2769096"/>
            <a:ext cx="5200650" cy="748010"/>
          </a:xfrm>
          <a:prstGeom prst="roundRect">
            <a:avLst>
              <a:gd name="adj" fmla="val 13158"/>
            </a:avLst>
          </a:prstGeom>
          <a:solidFill>
            <a:srgbClr val="FFFFFF"/>
          </a:solidFill>
          <a:ln w="6350">
            <a:solidFill>
              <a:srgbClr val="D3DDD9"/>
            </a:solidFill>
            <a:prstDash val="solid"/>
          </a:ln>
        </p:spPr>
        <p:txBody>
          <a:bodyPr wrap="square" lIns="228347" tIns="177547" rIns="87758" bIns="152147" rtlCol="0" anchor="t">
            <a:normAutofit/>
          </a:bodyPr>
          <a:lstStyle/>
          <a:p>
            <a:pPr algn="l" indent="0" marL="0">
              <a:lnSpc>
                <a:spcPts val="2640"/>
              </a:lnSpc>
              <a:buNone/>
            </a:pPr>
            <a:r>
              <a:rPr lang="en-US" sz="2200" b="1" dirty="0">
                <a:solidFill>
                  <a:srgbClr val="12201D"/>
                </a:solidFill>
                <a:latin typeface="Source Sans 3" pitchFamily="34" charset="0"/>
                <a:ea typeface="Source Sans 3" pitchFamily="34" charset="-122"/>
                <a:cs typeface="Source Sans 3" pitchFamily="34" charset="-120"/>
              </a:rPr>
              <a:t>Frases genéricas</a:t>
            </a:r>
            <a:endParaRPr lang="en-US" sz="2200" dirty="0"/>
          </a:p>
        </p:txBody>
      </p:sp>
      <p:sp>
        <p:nvSpPr>
          <p:cNvPr id="7" name="Text 5"/>
          <p:cNvSpPr/>
          <p:nvPr/>
        </p:nvSpPr>
        <p:spPr>
          <a:xfrm>
            <a:off x="6175375" y="2769096"/>
            <a:ext cx="5200650" cy="748010"/>
          </a:xfrm>
          <a:prstGeom prst="roundRect">
            <a:avLst>
              <a:gd name="adj" fmla="val 13158"/>
            </a:avLst>
          </a:prstGeom>
          <a:solidFill>
            <a:srgbClr val="FFFFFF"/>
          </a:solidFill>
          <a:ln w="6350">
            <a:solidFill>
              <a:srgbClr val="D3DDD9"/>
            </a:solidFill>
            <a:prstDash val="solid"/>
          </a:ln>
        </p:spPr>
        <p:txBody>
          <a:bodyPr wrap="square" lIns="228347" tIns="177547" rIns="87758" bIns="152147" rtlCol="0" anchor="t">
            <a:normAutofit/>
          </a:bodyPr>
          <a:lstStyle/>
          <a:p>
            <a:pPr algn="l" indent="0" marL="0">
              <a:lnSpc>
                <a:spcPts val="2640"/>
              </a:lnSpc>
              <a:buNone/>
            </a:pPr>
            <a:r>
              <a:rPr lang="en-US" sz="2200" b="1" dirty="0">
                <a:solidFill>
                  <a:srgbClr val="12201D"/>
                </a:solidFill>
                <a:latin typeface="Source Sans 3" pitchFamily="34" charset="0"/>
                <a:ea typeface="Source Sans 3" pitchFamily="34" charset="-122"/>
                <a:cs typeface="Source Sans 3" pitchFamily="34" charset="-120"/>
              </a:rPr>
              <a:t>Datos raros o inventados</a:t>
            </a:r>
            <a:endParaRPr lang="en-US" sz="2200" dirty="0"/>
          </a:p>
        </p:txBody>
      </p:sp>
      <p:sp>
        <p:nvSpPr>
          <p:cNvPr id="8" name="Text 6"/>
          <p:cNvSpPr/>
          <p:nvPr/>
        </p:nvSpPr>
        <p:spPr>
          <a:xfrm>
            <a:off x="812800" y="377428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D49"/>
                </a:solidFill>
                <a:latin typeface="Source Sans 3" pitchFamily="34" charset="0"/>
                <a:ea typeface="Source Sans 3" pitchFamily="34" charset="-122"/>
                <a:cs typeface="Source Sans 3" pitchFamily="34" charset="-120"/>
              </a:rPr>
              <a:t>Son pistas, no pruebas. A veces la IA suena muy humana, y una persona puede escribir como una máquina.</a:t>
            </a:r>
            <a:endParaRPr lang="en-US" sz="1600" dirty="0"/>
          </a:p>
        </p:txBody>
      </p:sp>
      <p:sp>
        <p:nvSpPr>
          <p:cNvPr id="9" name="Text 7"/>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10"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0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D1B5"/>
                </a:solidFill>
                <a:latin typeface="JetBrains Mono" pitchFamily="49" charset="0"/>
                <a:ea typeface="JetBrains Mono" pitchFamily="49" charset="-122"/>
                <a:cs typeface="JetBrains Mono" pitchFamily="49" charset="-120"/>
              </a:rPr>
              <a:t>0:15 – 0:40 · EXPLICACIÓN</a:t>
            </a:r>
            <a:endParaRPr lang="en-US" sz="1200" dirty="0"/>
          </a:p>
        </p:txBody>
      </p:sp>
      <p:sp>
        <p:nvSpPr>
          <p:cNvPr id="3" name="Text 1"/>
          <p:cNvSpPr/>
          <p:nvPr>
            <p:ph type="title"/>
          </p:nvPr>
        </p:nvSpPr>
        <p:spPr>
          <a:xfrm>
            <a:off x="812800" y="117852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E6EFEC"/>
                </a:solidFill>
                <a:latin typeface="Bricolage Grotesque" pitchFamily="34" charset="0"/>
                <a:ea typeface="Bricolage Grotesque" pitchFamily="34" charset="-122"/>
                <a:cs typeface="Bricolage Grotesque" pitchFamily="34" charset="-120"/>
              </a:rPr>
              <a:t>La IA aprende patrones a partir de ejemplos</a:t>
            </a:r>
            <a:endParaRPr lang="en-US" sz="5600" dirty="0"/>
          </a:p>
        </p:txBody>
      </p:sp>
      <p:sp>
        <p:nvSpPr>
          <p:cNvPr id="4" name="Text 2"/>
          <p:cNvSpPr/>
          <p:nvPr/>
        </p:nvSpPr>
        <p:spPr>
          <a:xfrm>
            <a:off x="812800" y="5478859"/>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8D5"/>
                </a:solidFill>
                <a:latin typeface="Source Sans 3" pitchFamily="34" charset="0"/>
                <a:ea typeface="Source Sans 3" pitchFamily="34" charset="-122"/>
                <a:cs typeface="Source Sans 3" pitchFamily="34" charset="-120"/>
              </a:rPr>
              <a:t>No sigue reglas escritas una por una. Mira muchos casos y descubre qué se repite.</a:t>
            </a:r>
            <a:endParaRPr lang="en-US" sz="2200" dirty="0"/>
          </a:p>
        </p:txBody>
      </p:sp>
      <p:sp>
        <p:nvSpPr>
          <p:cNvPr id="5" name="Text 3"/>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CA7"/>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6"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0:15 – 0:40 · EXPLICACIÓN</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Programa normal frente a IA</a:t>
            </a:r>
            <a:endParaRPr lang="en-US" sz="3600" dirty="0"/>
          </a:p>
        </p:txBody>
      </p:sp>
      <p:sp>
        <p:nvSpPr>
          <p:cNvPr id="4" name="Shape 2"/>
          <p:cNvSpPr/>
          <p:nvPr/>
        </p:nvSpPr>
        <p:spPr>
          <a:xfrm>
            <a:off x="815975" y="1862336"/>
            <a:ext cx="5168900" cy="2096691"/>
          </a:xfrm>
          <a:prstGeom prst="roundRect">
            <a:avLst>
              <a:gd name="adj" fmla="val 4694"/>
            </a:avLst>
          </a:prstGeom>
          <a:solidFill>
            <a:srgbClr val="FFFFFF"/>
          </a:solidFill>
          <a:ln w="6350">
            <a:solidFill>
              <a:srgbClr val="D3DDD9"/>
            </a:solidFill>
            <a:prstDash val="solid"/>
          </a:ln>
        </p:spPr>
      </p:sp>
      <p:sp>
        <p:nvSpPr>
          <p:cNvPr id="5" name="Text 3"/>
          <p:cNvSpPr/>
          <p:nvPr/>
        </p:nvSpPr>
        <p:spPr>
          <a:xfrm>
            <a:off x="1073150" y="2119511"/>
            <a:ext cx="479418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52625E"/>
                </a:solidFill>
                <a:latin typeface="Source Sans 3" pitchFamily="34" charset="0"/>
                <a:ea typeface="Source Sans 3" pitchFamily="34" charset="-122"/>
                <a:cs typeface="Source Sans 3" pitchFamily="34" charset="-120"/>
              </a:rPr>
              <a:t>Programa tradicional</a:t>
            </a:r>
            <a:endParaRPr lang="en-US" sz="2200" dirty="0"/>
          </a:p>
        </p:txBody>
      </p:sp>
      <p:sp>
        <p:nvSpPr>
          <p:cNvPr id="6" name="Text 4"/>
          <p:cNvSpPr/>
          <p:nvPr/>
        </p:nvSpPr>
        <p:spPr>
          <a:xfrm>
            <a:off x="1073150" y="2581771"/>
            <a:ext cx="479418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Alguien escribe las reglas una por una.</a:t>
            </a:r>
            <a:endParaRPr lang="en-US" sz="1600" dirty="0"/>
          </a:p>
        </p:txBody>
      </p:sp>
      <p:sp>
        <p:nvSpPr>
          <p:cNvPr id="7" name="Text 5"/>
          <p:cNvSpPr/>
          <p:nvPr/>
        </p:nvSpPr>
        <p:spPr>
          <a:xfrm>
            <a:off x="1073150" y="2993231"/>
            <a:ext cx="479418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Ejemplo: una calculadora.</a:t>
            </a:r>
            <a:endParaRPr lang="en-US" sz="1600" dirty="0"/>
          </a:p>
        </p:txBody>
      </p:sp>
      <p:sp>
        <p:nvSpPr>
          <p:cNvPr id="8" name="Text 6"/>
          <p:cNvSpPr/>
          <p:nvPr/>
        </p:nvSpPr>
        <p:spPr>
          <a:xfrm>
            <a:off x="1073150" y="3404691"/>
            <a:ext cx="479418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Siempre hace exactamente lo que le programaron.</a:t>
            </a:r>
            <a:endParaRPr lang="en-US" sz="1600" dirty="0"/>
          </a:p>
        </p:txBody>
      </p:sp>
      <p:sp>
        <p:nvSpPr>
          <p:cNvPr id="9" name="Shape 7"/>
          <p:cNvSpPr/>
          <p:nvPr/>
        </p:nvSpPr>
        <p:spPr>
          <a:xfrm>
            <a:off x="6197600" y="1865511"/>
            <a:ext cx="5175250" cy="2090341"/>
          </a:xfrm>
          <a:prstGeom prst="roundRect">
            <a:avLst>
              <a:gd name="adj" fmla="val 4557"/>
            </a:avLst>
          </a:prstGeom>
          <a:solidFill>
            <a:srgbClr val="FFFFFF"/>
          </a:solidFill>
          <a:ln w="12700">
            <a:solidFill>
              <a:srgbClr val="0B6B5D"/>
            </a:solidFill>
            <a:prstDash val="solid"/>
          </a:ln>
        </p:spPr>
      </p:sp>
      <p:sp>
        <p:nvSpPr>
          <p:cNvPr id="10" name="Text 8"/>
          <p:cNvSpPr/>
          <p:nvPr/>
        </p:nvSpPr>
        <p:spPr>
          <a:xfrm>
            <a:off x="6457950" y="2125861"/>
            <a:ext cx="479418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B6B5D"/>
                </a:solidFill>
                <a:latin typeface="Source Sans 3" pitchFamily="34" charset="0"/>
                <a:ea typeface="Source Sans 3" pitchFamily="34" charset="-122"/>
                <a:cs typeface="Source Sans 3" pitchFamily="34" charset="-120"/>
              </a:rPr>
              <a:t>Inteligencia artificial</a:t>
            </a:r>
            <a:endParaRPr lang="en-US" sz="2200" dirty="0"/>
          </a:p>
        </p:txBody>
      </p:sp>
      <p:sp>
        <p:nvSpPr>
          <p:cNvPr id="11" name="Text 9"/>
          <p:cNvSpPr/>
          <p:nvPr/>
        </p:nvSpPr>
        <p:spPr>
          <a:xfrm>
            <a:off x="6457950" y="2588121"/>
            <a:ext cx="479418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Aprende de muchos ejemplos.</a:t>
            </a:r>
            <a:endParaRPr lang="en-US" sz="1600" dirty="0"/>
          </a:p>
        </p:txBody>
      </p:sp>
      <p:sp>
        <p:nvSpPr>
          <p:cNvPr id="12" name="Text 10"/>
          <p:cNvSpPr/>
          <p:nvPr/>
        </p:nvSpPr>
        <p:spPr>
          <a:xfrm>
            <a:off x="6457950" y="2999581"/>
            <a:ext cx="479418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Ejemplo: el filtro de spam del correo.</a:t>
            </a:r>
            <a:endParaRPr lang="en-US" sz="1600" dirty="0"/>
          </a:p>
        </p:txBody>
      </p:sp>
      <p:sp>
        <p:nvSpPr>
          <p:cNvPr id="13" name="Text 11"/>
          <p:cNvSpPr/>
          <p:nvPr/>
        </p:nvSpPr>
        <p:spPr>
          <a:xfrm>
            <a:off x="6457950" y="3411041"/>
            <a:ext cx="479418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Puede equivocarse, por eso hay que revisarla.</a:t>
            </a:r>
            <a:endParaRPr lang="en-US" sz="1600" dirty="0"/>
          </a:p>
        </p:txBody>
      </p:sp>
      <p:sp>
        <p:nvSpPr>
          <p:cNvPr id="14" name="Text 12"/>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15"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0:15 – 0:40 · EXPLICACIÓN</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La IA aprende como un catador de café</a:t>
            </a:r>
            <a:endParaRPr lang="en-US" sz="3600" dirty="0"/>
          </a:p>
        </p:txBody>
      </p:sp>
      <p:sp>
        <p:nvSpPr>
          <p:cNvPr id="4" name="Shape 2"/>
          <p:cNvSpPr/>
          <p:nvPr/>
        </p:nvSpPr>
        <p:spPr>
          <a:xfrm>
            <a:off x="815975" y="1862336"/>
            <a:ext cx="3414117" cy="2017911"/>
          </a:xfrm>
          <a:prstGeom prst="roundRect">
            <a:avLst>
              <a:gd name="adj" fmla="val 4878"/>
            </a:avLst>
          </a:prstGeom>
          <a:solidFill>
            <a:srgbClr val="FFFFFF"/>
          </a:solidFill>
          <a:ln w="6350">
            <a:solidFill>
              <a:srgbClr val="D3DDD9"/>
            </a:solidFill>
            <a:prstDash val="solid"/>
          </a:ln>
        </p:spPr>
      </p:sp>
      <p:sp>
        <p:nvSpPr>
          <p:cNvPr id="5" name="Text 3"/>
          <p:cNvSpPr/>
          <p:nvPr/>
        </p:nvSpPr>
        <p:spPr>
          <a:xfrm>
            <a:off x="1073150" y="2119511"/>
            <a:ext cx="2986760"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0B6B5D"/>
                </a:solidFill>
                <a:latin typeface="JetBrains Mono" pitchFamily="49" charset="0"/>
                <a:ea typeface="JetBrains Mono" pitchFamily="49" charset="-122"/>
                <a:cs typeface="JetBrains Mono" pitchFamily="49" charset="-120"/>
              </a:rPr>
              <a:t>1</a:t>
            </a:r>
            <a:endParaRPr lang="en-US" sz="3600" dirty="0"/>
          </a:p>
        </p:txBody>
      </p:sp>
      <p:sp>
        <p:nvSpPr>
          <p:cNvPr id="6" name="Text 4"/>
          <p:cNvSpPr/>
          <p:nvPr/>
        </p:nvSpPr>
        <p:spPr>
          <a:xfrm>
            <a:off x="1073150" y="2769691"/>
            <a:ext cx="298676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Prueba miles de granos.</a:t>
            </a:r>
            <a:endParaRPr lang="en-US" sz="1600" dirty="0"/>
          </a:p>
        </p:txBody>
      </p:sp>
      <p:sp>
        <p:nvSpPr>
          <p:cNvPr id="7" name="Shape 5"/>
          <p:cNvSpPr/>
          <p:nvPr/>
        </p:nvSpPr>
        <p:spPr>
          <a:xfrm>
            <a:off x="4388842" y="1862336"/>
            <a:ext cx="3414216" cy="2017911"/>
          </a:xfrm>
          <a:prstGeom prst="roundRect">
            <a:avLst>
              <a:gd name="adj" fmla="val 4878"/>
            </a:avLst>
          </a:prstGeom>
          <a:solidFill>
            <a:srgbClr val="FFFFFF"/>
          </a:solidFill>
          <a:ln w="6350">
            <a:solidFill>
              <a:srgbClr val="D3DDD9"/>
            </a:solidFill>
            <a:prstDash val="solid"/>
          </a:ln>
        </p:spPr>
      </p:sp>
      <p:sp>
        <p:nvSpPr>
          <p:cNvPr id="8" name="Text 6"/>
          <p:cNvSpPr/>
          <p:nvPr/>
        </p:nvSpPr>
        <p:spPr>
          <a:xfrm>
            <a:off x="4646017" y="2119511"/>
            <a:ext cx="2986862"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0B6B5D"/>
                </a:solidFill>
                <a:latin typeface="JetBrains Mono" pitchFamily="49" charset="0"/>
                <a:ea typeface="JetBrains Mono" pitchFamily="49" charset="-122"/>
                <a:cs typeface="JetBrains Mono" pitchFamily="49" charset="-120"/>
              </a:rPr>
              <a:t>2</a:t>
            </a:r>
            <a:endParaRPr lang="en-US" sz="3600" dirty="0"/>
          </a:p>
        </p:txBody>
      </p:sp>
      <p:sp>
        <p:nvSpPr>
          <p:cNvPr id="9" name="Text 7"/>
          <p:cNvSpPr/>
          <p:nvPr/>
        </p:nvSpPr>
        <p:spPr>
          <a:xfrm>
            <a:off x="4646017" y="2769691"/>
            <a:ext cx="298686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Le dicen cuáles eran buenos y cuáles malos.</a:t>
            </a:r>
            <a:endParaRPr lang="en-US" sz="1600" dirty="0"/>
          </a:p>
        </p:txBody>
      </p:sp>
      <p:sp>
        <p:nvSpPr>
          <p:cNvPr id="10" name="Shape 8"/>
          <p:cNvSpPr/>
          <p:nvPr/>
        </p:nvSpPr>
        <p:spPr>
          <a:xfrm>
            <a:off x="7961809" y="1862336"/>
            <a:ext cx="3414216" cy="2017911"/>
          </a:xfrm>
          <a:prstGeom prst="roundRect">
            <a:avLst>
              <a:gd name="adj" fmla="val 4878"/>
            </a:avLst>
          </a:prstGeom>
          <a:solidFill>
            <a:srgbClr val="FFFFFF"/>
          </a:solidFill>
          <a:ln w="6350">
            <a:solidFill>
              <a:srgbClr val="D3DDD9"/>
            </a:solidFill>
            <a:prstDash val="solid"/>
          </a:ln>
        </p:spPr>
      </p:sp>
      <p:sp>
        <p:nvSpPr>
          <p:cNvPr id="11" name="Text 9"/>
          <p:cNvSpPr/>
          <p:nvPr/>
        </p:nvSpPr>
        <p:spPr>
          <a:xfrm>
            <a:off x="8218984" y="2119511"/>
            <a:ext cx="2986862" cy="57398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0B6B5D"/>
                </a:solidFill>
                <a:latin typeface="JetBrains Mono" pitchFamily="49" charset="0"/>
                <a:ea typeface="JetBrains Mono" pitchFamily="49" charset="-122"/>
                <a:cs typeface="JetBrains Mono" pitchFamily="49" charset="-120"/>
              </a:rPr>
              <a:t>3</a:t>
            </a:r>
            <a:endParaRPr lang="en-US" sz="3600" dirty="0"/>
          </a:p>
        </p:txBody>
      </p:sp>
      <p:sp>
        <p:nvSpPr>
          <p:cNvPr id="12" name="Text 10"/>
          <p:cNvSpPr/>
          <p:nvPr/>
        </p:nvSpPr>
        <p:spPr>
          <a:xfrm>
            <a:off x="8218984" y="2769691"/>
            <a:ext cx="298686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Con el tiempo distingue un buen grano sin que nadie le dé una lista de reglas.</a:t>
            </a:r>
            <a:endParaRPr lang="en-US" sz="1600" dirty="0"/>
          </a:p>
        </p:txBody>
      </p:sp>
      <p:sp>
        <p:nvSpPr>
          <p:cNvPr id="13" name="Text 11"/>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14"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0:15 – 0:40 · EXPLICACIÓN</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IA generativa: la que crea</a:t>
            </a:r>
            <a:endParaRPr lang="en-US" sz="3600" dirty="0"/>
          </a:p>
        </p:txBody>
      </p:sp>
      <p:sp>
        <p:nvSpPr>
          <p:cNvPr id="4" name="Shape 2"/>
          <p:cNvSpPr/>
          <p:nvPr/>
        </p:nvSpPr>
        <p:spPr>
          <a:xfrm>
            <a:off x="815975" y="1862336"/>
            <a:ext cx="3414117" cy="1794470"/>
          </a:xfrm>
          <a:prstGeom prst="roundRect">
            <a:avLst>
              <a:gd name="adj" fmla="val 5485"/>
            </a:avLst>
          </a:prstGeom>
          <a:solidFill>
            <a:srgbClr val="FFFFFF"/>
          </a:solidFill>
          <a:ln w="6350">
            <a:solidFill>
              <a:srgbClr val="D3DDD9"/>
            </a:solidFill>
            <a:prstDash val="solid"/>
          </a:ln>
        </p:spPr>
      </p:sp>
      <p:pic>
        <p:nvPicPr>
          <p:cNvPr id="5" name="Image 0" descr="Chat">    </p:cNvPr>
          <p:cNvPicPr>
            <a:picLocks noChangeAspect="1"/>
          </p:cNvPicPr>
          <p:nvPr/>
        </p:nvPicPr>
        <p:blipFill>
          <a:blip r:embed="rId1"/>
          <a:srcRect l="0" r="0" t="0" b="0"/>
          <a:stretch/>
        </p:blipFill>
        <p:spPr>
          <a:xfrm>
            <a:off x="1073150" y="2119511"/>
            <a:ext cx="457200" cy="457200"/>
          </a:xfrm>
          <a:prstGeom prst="rect">
            <a:avLst/>
          </a:prstGeom>
        </p:spPr>
      </p:pic>
      <p:sp>
        <p:nvSpPr>
          <p:cNvPr id="6" name="Text 3"/>
          <p:cNvSpPr/>
          <p:nvPr/>
        </p:nvSpPr>
        <p:spPr>
          <a:xfrm>
            <a:off x="1073150" y="2678311"/>
            <a:ext cx="29867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01D"/>
                </a:solidFill>
                <a:latin typeface="Source Sans 3" pitchFamily="34" charset="0"/>
                <a:ea typeface="Source Sans 3" pitchFamily="34" charset="-122"/>
                <a:cs typeface="Source Sans 3" pitchFamily="34" charset="-120"/>
              </a:rPr>
              <a:t>Texto</a:t>
            </a:r>
            <a:endParaRPr lang="en-US" sz="2200" dirty="0"/>
          </a:p>
        </p:txBody>
      </p:sp>
      <p:sp>
        <p:nvSpPr>
          <p:cNvPr id="7" name="Text 4"/>
          <p:cNvSpPr/>
          <p:nvPr/>
        </p:nvSpPr>
        <p:spPr>
          <a:xfrm>
            <a:off x="1073150" y="3115171"/>
            <a:ext cx="298676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Mensajes, resúmenes, ideas.</a:t>
            </a:r>
            <a:endParaRPr lang="en-US" sz="1600" dirty="0"/>
          </a:p>
        </p:txBody>
      </p:sp>
      <p:sp>
        <p:nvSpPr>
          <p:cNvPr id="8" name="Shape 5"/>
          <p:cNvSpPr/>
          <p:nvPr/>
        </p:nvSpPr>
        <p:spPr>
          <a:xfrm>
            <a:off x="4388842" y="1862336"/>
            <a:ext cx="3414216" cy="1794470"/>
          </a:xfrm>
          <a:prstGeom prst="roundRect">
            <a:avLst>
              <a:gd name="adj" fmla="val 5485"/>
            </a:avLst>
          </a:prstGeom>
          <a:solidFill>
            <a:srgbClr val="FFFFFF"/>
          </a:solidFill>
          <a:ln w="6350">
            <a:solidFill>
              <a:srgbClr val="D3DDD9"/>
            </a:solidFill>
            <a:prstDash val="solid"/>
          </a:ln>
        </p:spPr>
      </p:sp>
      <p:pic>
        <p:nvPicPr>
          <p:cNvPr id="9" name="Image 1" descr="Star">    </p:cNvPr>
          <p:cNvPicPr>
            <a:picLocks noChangeAspect="1"/>
          </p:cNvPicPr>
          <p:nvPr/>
        </p:nvPicPr>
        <p:blipFill>
          <a:blip r:embed="rId2"/>
          <a:srcRect l="0" r="0" t="0" b="0"/>
          <a:stretch/>
        </p:blipFill>
        <p:spPr>
          <a:xfrm>
            <a:off x="4646017" y="2119511"/>
            <a:ext cx="457200" cy="457200"/>
          </a:xfrm>
          <a:prstGeom prst="rect">
            <a:avLst/>
          </a:prstGeom>
        </p:spPr>
      </p:pic>
      <p:sp>
        <p:nvSpPr>
          <p:cNvPr id="10" name="Text 6"/>
          <p:cNvSpPr/>
          <p:nvPr/>
        </p:nvSpPr>
        <p:spPr>
          <a:xfrm>
            <a:off x="4646017" y="267831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01D"/>
                </a:solidFill>
                <a:latin typeface="Source Sans 3" pitchFamily="34" charset="0"/>
                <a:ea typeface="Source Sans 3" pitchFamily="34" charset="-122"/>
                <a:cs typeface="Source Sans 3" pitchFamily="34" charset="-120"/>
              </a:rPr>
              <a:t>Imágenes</a:t>
            </a:r>
            <a:endParaRPr lang="en-US" sz="2200" dirty="0"/>
          </a:p>
        </p:txBody>
      </p:sp>
      <p:sp>
        <p:nvSpPr>
          <p:cNvPr id="11" name="Text 7"/>
          <p:cNvSpPr/>
          <p:nvPr/>
        </p:nvSpPr>
        <p:spPr>
          <a:xfrm>
            <a:off x="4646017" y="3115171"/>
            <a:ext cx="298686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Afiches, fotos y dibujos.</a:t>
            </a:r>
            <a:endParaRPr lang="en-US" sz="1600" dirty="0"/>
          </a:p>
        </p:txBody>
      </p:sp>
      <p:sp>
        <p:nvSpPr>
          <p:cNvPr id="12" name="Shape 8"/>
          <p:cNvSpPr/>
          <p:nvPr/>
        </p:nvSpPr>
        <p:spPr>
          <a:xfrm>
            <a:off x="7961809" y="1862336"/>
            <a:ext cx="3414216" cy="1794470"/>
          </a:xfrm>
          <a:prstGeom prst="roundRect">
            <a:avLst>
              <a:gd name="adj" fmla="val 5485"/>
            </a:avLst>
          </a:prstGeom>
          <a:solidFill>
            <a:srgbClr val="FFFFFF"/>
          </a:solidFill>
          <a:ln w="6350">
            <a:solidFill>
              <a:srgbClr val="D3DDD9"/>
            </a:solidFill>
            <a:prstDash val="solid"/>
          </a:ln>
        </p:spPr>
      </p:sp>
      <p:pic>
        <p:nvPicPr>
          <p:cNvPr id="13" name="Image 2" descr="Play">    </p:cNvPr>
          <p:cNvPicPr>
            <a:picLocks noChangeAspect="1"/>
          </p:cNvPicPr>
          <p:nvPr/>
        </p:nvPicPr>
        <p:blipFill>
          <a:blip r:embed="rId3"/>
          <a:srcRect l="0" r="0" t="0" b="0"/>
          <a:stretch/>
        </p:blipFill>
        <p:spPr>
          <a:xfrm>
            <a:off x="8218984" y="2119511"/>
            <a:ext cx="457200" cy="457200"/>
          </a:xfrm>
          <a:prstGeom prst="rect">
            <a:avLst/>
          </a:prstGeom>
        </p:spPr>
      </p:pic>
      <p:sp>
        <p:nvSpPr>
          <p:cNvPr id="14" name="Text 9"/>
          <p:cNvSpPr/>
          <p:nvPr/>
        </p:nvSpPr>
        <p:spPr>
          <a:xfrm>
            <a:off x="8218984" y="267831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01D"/>
                </a:solidFill>
                <a:latin typeface="Source Sans 3" pitchFamily="34" charset="0"/>
                <a:ea typeface="Source Sans 3" pitchFamily="34" charset="-122"/>
                <a:cs typeface="Source Sans 3" pitchFamily="34" charset="-120"/>
              </a:rPr>
              <a:t>Audio y video</a:t>
            </a:r>
            <a:endParaRPr lang="en-US" sz="2200" dirty="0"/>
          </a:p>
        </p:txBody>
      </p:sp>
      <p:sp>
        <p:nvSpPr>
          <p:cNvPr id="15" name="Text 10"/>
          <p:cNvSpPr/>
          <p:nvPr/>
        </p:nvSpPr>
        <p:spPr>
          <a:xfrm>
            <a:off x="8218984" y="3115171"/>
            <a:ext cx="298686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Voces, música y clips.</a:t>
            </a:r>
            <a:endParaRPr lang="en-US" sz="1600" dirty="0"/>
          </a:p>
        </p:txBody>
      </p:sp>
      <p:sp>
        <p:nvSpPr>
          <p:cNvPr id="16" name="Text 11"/>
          <p:cNvSpPr/>
          <p:nvPr/>
        </p:nvSpPr>
        <p:spPr>
          <a:xfrm>
            <a:off x="812800" y="391398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D49"/>
                </a:solidFill>
                <a:latin typeface="Source Sans 3" pitchFamily="34" charset="0"/>
                <a:ea typeface="Source Sans 3" pitchFamily="34" charset="-122"/>
                <a:cs typeface="Source Sans 3" pitchFamily="34" charset="-120"/>
              </a:rPr>
              <a:t>1956: nace el término inteligencia artificial. 2022: ChatGPT llega al público general.</a:t>
            </a:r>
            <a:endParaRPr lang="en-US" sz="1600" dirty="0"/>
          </a:p>
        </p:txBody>
      </p:sp>
      <p:sp>
        <p:nvSpPr>
          <p:cNvPr id="17" name="Text 12"/>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18" name="Image 3" descr="Logo de Studio-IA">    </p:cNvPr>
          <p:cNvPicPr>
            <a:picLocks noChangeAspect="1"/>
          </p:cNvPicPr>
          <p:nvPr/>
        </p:nvPicPr>
        <p:blipFill>
          <a:blip r:embed="rId4"/>
          <a:srcRect l="0" r="0" t="-62" b="-62"/>
          <a:stretch/>
        </p:blipFill>
        <p:spPr>
          <a:xfrm>
            <a:off x="9601200" y="6134100"/>
            <a:ext cx="1778000" cy="419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0:15 – 0:40 · EXPLICACIÓN</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Video: ¿qué es la IA? en 5 minutos</a:t>
            </a:r>
            <a:endParaRPr lang="en-US" sz="3600" dirty="0"/>
          </a:p>
        </p:txBody>
      </p:sp>
      <p:sp>
        <p:nvSpPr>
          <p:cNvPr id="4" name="Shape 2"/>
          <p:cNvSpPr/>
          <p:nvPr/>
        </p:nvSpPr>
        <p:spPr>
          <a:xfrm>
            <a:off x="815975" y="1862336"/>
            <a:ext cx="10560050" cy="1708051"/>
          </a:xfrm>
          <a:prstGeom prst="roundRect">
            <a:avLst>
              <a:gd name="adj" fmla="val 5762"/>
            </a:avLst>
          </a:prstGeom>
          <a:solidFill>
            <a:srgbClr val="FFFFFF"/>
          </a:solidFill>
          <a:ln w="6350">
            <a:solidFill>
              <a:srgbClr val="D3DDD9"/>
            </a:solidFill>
            <a:prstDash val="solid"/>
          </a:ln>
        </p:spPr>
      </p:sp>
      <p:pic>
        <p:nvPicPr>
          <p:cNvPr id="5" name="Image 0" descr="Play">    </p:cNvPr>
          <p:cNvPicPr>
            <a:picLocks noChangeAspect="1"/>
          </p:cNvPicPr>
          <p:nvPr/>
        </p:nvPicPr>
        <p:blipFill>
          <a:blip r:embed="rId1"/>
          <a:srcRect l="0" r="0" t="0" b="0"/>
          <a:stretch/>
        </p:blipFill>
        <p:spPr>
          <a:xfrm>
            <a:off x="1073150" y="2119511"/>
            <a:ext cx="457200" cy="457200"/>
          </a:xfrm>
          <a:prstGeom prst="rect">
            <a:avLst/>
          </a:prstGeom>
        </p:spPr>
      </p:pic>
      <p:sp>
        <p:nvSpPr>
          <p:cNvPr id="6" name="Text 3"/>
          <p:cNvSpPr/>
          <p:nvPr/>
        </p:nvSpPr>
        <p:spPr>
          <a:xfrm>
            <a:off x="1073150" y="2678311"/>
            <a:ext cx="1034707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Canal BIG BOOK, en español.</a:t>
            </a:r>
            <a:endParaRPr lang="en-US" sz="1600" dirty="0"/>
          </a:p>
        </p:txBody>
      </p:sp>
      <p:sp>
        <p:nvSpPr>
          <p:cNvPr id="7" name="Text 4"/>
          <p:cNvSpPr/>
          <p:nvPr/>
        </p:nvSpPr>
        <p:spPr>
          <a:xfrm>
            <a:off x="1073150" y="3064371"/>
            <a:ext cx="10347071" cy="274241"/>
          </a:xfrm>
          <a:prstGeom prst="rect">
            <a:avLst/>
          </a:prstGeom>
          <a:noFill/>
          <a:ln/>
        </p:spPr>
        <p:txBody>
          <a:bodyPr wrap="square" lIns="0" tIns="0" rIns="0" bIns="0" rtlCol="0" anchor="t">
            <a:normAutofit/>
          </a:bodyPr>
          <a:lstStyle/>
          <a:p>
            <a:pPr algn="l" indent="0" marL="0">
              <a:lnSpc>
                <a:spcPts val="1960"/>
              </a:lnSpc>
              <a:buNone/>
            </a:pPr>
            <a:r>
              <a:rPr lang="en-US" sz="1400" u="sng" dirty="0">
                <a:solidFill>
                  <a:srgbClr val="0B6B5D"/>
                </a:solidFill>
                <a:latin typeface="JetBrains Mono" pitchFamily="49" charset="0"/>
                <a:ea typeface="JetBrains Mono" pitchFamily="49" charset="-122"/>
                <a:cs typeface="JetBrains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youtube.com/watch?v=XuWMWPwdlik</a:t>
            </a:r>
            <a:endParaRPr lang="en-US" sz="1400" dirty="0"/>
          </a:p>
        </p:txBody>
      </p:sp>
      <p:sp>
        <p:nvSpPr>
          <p:cNvPr id="8" name="Text 5"/>
          <p:cNvSpPr/>
          <p:nvPr/>
        </p:nvSpPr>
        <p:spPr>
          <a:xfrm>
            <a:off x="812800" y="3827562"/>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2201D"/>
                </a:solidFill>
                <a:latin typeface="Source Sans 3" pitchFamily="34" charset="0"/>
                <a:ea typeface="Source Sans 3" pitchFamily="34" charset="-122"/>
                <a:cs typeface="Source Sans 3" pitchFamily="34" charset="-120"/>
              </a:rPr>
              <a:t>Mientras lo ves, anota una cosa que no sabías.</a:t>
            </a:r>
            <a:endParaRPr lang="en-US" sz="2200" dirty="0"/>
          </a:p>
        </p:txBody>
      </p:sp>
      <p:sp>
        <p:nvSpPr>
          <p:cNvPr id="9" name="Text 6"/>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10" name="Image 1" descr="Logo de Studio-IA">    </p:cNvPr>
          <p:cNvPicPr>
            <a:picLocks noChangeAspect="1"/>
          </p:cNvPicPr>
          <p:nvPr/>
        </p:nvPicPr>
        <p:blipFill>
          <a:blip r:embed="rId3"/>
          <a:srcRect l="0" r="0" t="-62" b="-62"/>
          <a:stretch/>
        </p:blipFill>
        <p:spPr>
          <a:xfrm>
            <a:off x="9601200" y="6134100"/>
            <a:ext cx="1778000" cy="4191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0:40 – 1:05 · PRÁCTICA · 10 MIN EN PAREJAS</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Cacería de IA en tu celular</a:t>
            </a:r>
            <a:endParaRPr lang="en-US" sz="3600" dirty="0"/>
          </a:p>
        </p:txBody>
      </p:sp>
      <p:sp>
        <p:nvSpPr>
          <p:cNvPr id="4" name="Text 2"/>
          <p:cNvSpPr/>
          <p:nvPr/>
        </p:nvSpPr>
        <p:spPr>
          <a:xfrm>
            <a:off x="812800" y="1859161"/>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2201D"/>
                </a:solidFill>
                <a:latin typeface="Source Sans 3" pitchFamily="34" charset="0"/>
                <a:ea typeface="Source Sans 3" pitchFamily="34" charset="-122"/>
                <a:cs typeface="Source Sans 3" pitchFamily="34" charset="-120"/>
              </a:rPr>
              <a:t>Encuentren 5 lugares donde su celular ya usa IA. Después los compartimos.</a:t>
            </a:r>
            <a:endParaRPr lang="en-US" sz="2200" dirty="0"/>
          </a:p>
        </p:txBody>
      </p:sp>
      <p:sp>
        <p:nvSpPr>
          <p:cNvPr id="5" name="Text 3"/>
          <p:cNvSpPr/>
          <p:nvPr/>
        </p:nvSpPr>
        <p:spPr>
          <a:xfrm>
            <a:off x="815975" y="2479477"/>
            <a:ext cx="2520950" cy="890191"/>
          </a:xfrm>
          <a:prstGeom prst="roundRect">
            <a:avLst>
              <a:gd name="adj" fmla="val 11057"/>
            </a:avLst>
          </a:prstGeom>
          <a:solidFill>
            <a:srgbClr val="FFFFFF"/>
          </a:solidFill>
          <a:ln w="6350">
            <a:solidFill>
              <a:srgbClr val="D3DDD9"/>
            </a:solidFill>
            <a:prstDash val="solid"/>
          </a:ln>
        </p:spPr>
        <p:txBody>
          <a:bodyPr wrap="square" lIns="152147" tIns="152147" rIns="87377" bIns="126747" rtlCol="0" anchor="t">
            <a:normAutofit/>
          </a:bodyPr>
          <a:lstStyle/>
          <a:p>
            <a:pPr algn="l" indent="0" marL="0">
              <a:lnSpc>
                <a:spcPts val="2080"/>
              </a:lnSpc>
              <a:buNone/>
            </a:pPr>
            <a:r>
              <a:rPr lang="en-US" sz="1600" dirty="0">
                <a:solidFill>
                  <a:srgbClr val="12201D"/>
                </a:solidFill>
                <a:latin typeface="Source Sans 3" pitchFamily="34" charset="0"/>
                <a:ea typeface="Source Sans 3" pitchFamily="34" charset="-122"/>
                <a:cs typeface="Source Sans 3" pitchFamily="34" charset="-120"/>
              </a:rPr>
              <a:t>Teclado que predice palabras</a:t>
            </a:r>
            <a:endParaRPr lang="en-US" sz="1600" dirty="0"/>
          </a:p>
        </p:txBody>
      </p:sp>
      <p:sp>
        <p:nvSpPr>
          <p:cNvPr id="6" name="Text 4"/>
          <p:cNvSpPr/>
          <p:nvPr/>
        </p:nvSpPr>
        <p:spPr>
          <a:xfrm>
            <a:off x="3495675" y="2479477"/>
            <a:ext cx="2520950" cy="890191"/>
          </a:xfrm>
          <a:prstGeom prst="roundRect">
            <a:avLst>
              <a:gd name="adj" fmla="val 11057"/>
            </a:avLst>
          </a:prstGeom>
          <a:solidFill>
            <a:srgbClr val="FFFFFF"/>
          </a:solidFill>
          <a:ln w="6350">
            <a:solidFill>
              <a:srgbClr val="D3DDD9"/>
            </a:solidFill>
            <a:prstDash val="solid"/>
          </a:ln>
        </p:spPr>
        <p:txBody>
          <a:bodyPr wrap="square" lIns="152147" tIns="152147" rIns="87377" bIns="152147" rtlCol="0" anchor="t">
            <a:normAutofit/>
          </a:bodyPr>
          <a:lstStyle/>
          <a:p>
            <a:pPr algn="l" indent="0" marL="0">
              <a:lnSpc>
                <a:spcPts val="2080"/>
              </a:lnSpc>
              <a:buNone/>
            </a:pPr>
            <a:r>
              <a:rPr lang="en-US" sz="1600" dirty="0">
                <a:solidFill>
                  <a:srgbClr val="12201D"/>
                </a:solidFill>
                <a:latin typeface="Source Sans 3" pitchFamily="34" charset="0"/>
                <a:ea typeface="Source Sans 3" pitchFamily="34" charset="-122"/>
                <a:cs typeface="Source Sans 3" pitchFamily="34" charset="-120"/>
              </a:rPr>
              <a:t>Desbloqueo con la cara</a:t>
            </a:r>
            <a:endParaRPr lang="en-US" sz="1600" dirty="0"/>
          </a:p>
        </p:txBody>
      </p:sp>
      <p:sp>
        <p:nvSpPr>
          <p:cNvPr id="7" name="Text 5"/>
          <p:cNvSpPr/>
          <p:nvPr/>
        </p:nvSpPr>
        <p:spPr>
          <a:xfrm>
            <a:off x="6175375" y="2479477"/>
            <a:ext cx="2520950" cy="890191"/>
          </a:xfrm>
          <a:prstGeom prst="roundRect">
            <a:avLst>
              <a:gd name="adj" fmla="val 11057"/>
            </a:avLst>
          </a:prstGeom>
          <a:solidFill>
            <a:srgbClr val="FFFFFF"/>
          </a:solidFill>
          <a:ln w="6350">
            <a:solidFill>
              <a:srgbClr val="D3DDD9"/>
            </a:solidFill>
            <a:prstDash val="solid"/>
          </a:ln>
        </p:spPr>
        <p:txBody>
          <a:bodyPr wrap="square" lIns="152147" tIns="152147" rIns="87377" bIns="152147" rtlCol="0" anchor="t">
            <a:normAutofit/>
          </a:bodyPr>
          <a:lstStyle/>
          <a:p>
            <a:pPr algn="l" indent="0" marL="0">
              <a:lnSpc>
                <a:spcPts val="2080"/>
              </a:lnSpc>
              <a:buNone/>
            </a:pPr>
            <a:r>
              <a:rPr lang="en-US" sz="1600" dirty="0">
                <a:solidFill>
                  <a:srgbClr val="12201D"/>
                </a:solidFill>
                <a:latin typeface="Source Sans 3" pitchFamily="34" charset="0"/>
                <a:ea typeface="Source Sans 3" pitchFamily="34" charset="-122"/>
                <a:cs typeface="Source Sans 3" pitchFamily="34" charset="-120"/>
              </a:rPr>
              <a:t>Mapas y tráfico</a:t>
            </a:r>
            <a:endParaRPr lang="en-US" sz="1600" dirty="0"/>
          </a:p>
        </p:txBody>
      </p:sp>
      <p:sp>
        <p:nvSpPr>
          <p:cNvPr id="8" name="Text 6"/>
          <p:cNvSpPr/>
          <p:nvPr/>
        </p:nvSpPr>
        <p:spPr>
          <a:xfrm>
            <a:off x="8855075" y="2479477"/>
            <a:ext cx="2520950" cy="890191"/>
          </a:xfrm>
          <a:prstGeom prst="roundRect">
            <a:avLst>
              <a:gd name="adj" fmla="val 11057"/>
            </a:avLst>
          </a:prstGeom>
          <a:solidFill>
            <a:srgbClr val="FFFFFF"/>
          </a:solidFill>
          <a:ln w="6350">
            <a:solidFill>
              <a:srgbClr val="D3DDD9"/>
            </a:solidFill>
            <a:prstDash val="solid"/>
          </a:ln>
        </p:spPr>
        <p:txBody>
          <a:bodyPr wrap="square" lIns="152147" tIns="152147" rIns="87377" bIns="126747" rtlCol="0" anchor="t">
            <a:normAutofit/>
          </a:bodyPr>
          <a:lstStyle/>
          <a:p>
            <a:pPr algn="l" indent="0" marL="0">
              <a:lnSpc>
                <a:spcPts val="2080"/>
              </a:lnSpc>
              <a:buNone/>
            </a:pPr>
            <a:r>
              <a:rPr lang="en-US" sz="1600" dirty="0">
                <a:solidFill>
                  <a:srgbClr val="12201D"/>
                </a:solidFill>
                <a:latin typeface="Source Sans 3" pitchFamily="34" charset="0"/>
                <a:ea typeface="Source Sans 3" pitchFamily="34" charset="-122"/>
                <a:cs typeface="Source Sans 3" pitchFamily="34" charset="-120"/>
              </a:rPr>
              <a:t>Recomendaciones de videos y música</a:t>
            </a:r>
            <a:endParaRPr lang="en-US" sz="1600" dirty="0"/>
          </a:p>
        </p:txBody>
      </p:sp>
      <p:sp>
        <p:nvSpPr>
          <p:cNvPr id="9" name="Text 7"/>
          <p:cNvSpPr/>
          <p:nvPr/>
        </p:nvSpPr>
        <p:spPr>
          <a:xfrm>
            <a:off x="815975" y="3528417"/>
            <a:ext cx="2520950" cy="890191"/>
          </a:xfrm>
          <a:prstGeom prst="roundRect">
            <a:avLst>
              <a:gd name="adj" fmla="val 11057"/>
            </a:avLst>
          </a:prstGeom>
          <a:solidFill>
            <a:srgbClr val="FFFFFF"/>
          </a:solidFill>
          <a:ln w="6350">
            <a:solidFill>
              <a:srgbClr val="D3DDD9"/>
            </a:solidFill>
            <a:prstDash val="solid"/>
          </a:ln>
        </p:spPr>
        <p:txBody>
          <a:bodyPr wrap="square" lIns="152147" tIns="152147" rIns="87377" bIns="152147" rtlCol="0" anchor="t">
            <a:normAutofit/>
          </a:bodyPr>
          <a:lstStyle/>
          <a:p>
            <a:pPr algn="l" indent="0" marL="0">
              <a:lnSpc>
                <a:spcPts val="2080"/>
              </a:lnSpc>
              <a:buNone/>
            </a:pPr>
            <a:r>
              <a:rPr lang="en-US" sz="1600" dirty="0">
                <a:solidFill>
                  <a:srgbClr val="12201D"/>
                </a:solidFill>
                <a:latin typeface="Source Sans 3" pitchFamily="34" charset="0"/>
                <a:ea typeface="Source Sans 3" pitchFamily="34" charset="-122"/>
                <a:cs typeface="Source Sans 3" pitchFamily="34" charset="-120"/>
              </a:rPr>
              <a:t>Filtro de spam del correo</a:t>
            </a:r>
            <a:endParaRPr lang="en-US" sz="1600" dirty="0"/>
          </a:p>
        </p:txBody>
      </p:sp>
      <p:sp>
        <p:nvSpPr>
          <p:cNvPr id="10" name="Text 8"/>
          <p:cNvSpPr/>
          <p:nvPr/>
        </p:nvSpPr>
        <p:spPr>
          <a:xfrm>
            <a:off x="3495675" y="3528417"/>
            <a:ext cx="2520950" cy="890191"/>
          </a:xfrm>
          <a:prstGeom prst="roundRect">
            <a:avLst>
              <a:gd name="adj" fmla="val 11057"/>
            </a:avLst>
          </a:prstGeom>
          <a:solidFill>
            <a:srgbClr val="FFFFFF"/>
          </a:solidFill>
          <a:ln w="6350">
            <a:solidFill>
              <a:srgbClr val="D3DDD9"/>
            </a:solidFill>
            <a:prstDash val="solid"/>
          </a:ln>
        </p:spPr>
        <p:txBody>
          <a:bodyPr wrap="square" lIns="152147" tIns="152147" rIns="87377" bIns="152147" rtlCol="0" anchor="t">
            <a:normAutofit/>
          </a:bodyPr>
          <a:lstStyle/>
          <a:p>
            <a:pPr algn="l" indent="0" marL="0">
              <a:lnSpc>
                <a:spcPts val="2080"/>
              </a:lnSpc>
              <a:buNone/>
            </a:pPr>
            <a:r>
              <a:rPr lang="en-US" sz="1600" dirty="0">
                <a:solidFill>
                  <a:srgbClr val="12201D"/>
                </a:solidFill>
                <a:latin typeface="Source Sans 3" pitchFamily="34" charset="0"/>
                <a:ea typeface="Source Sans 3" pitchFamily="34" charset="-122"/>
                <a:cs typeface="Source Sans 3" pitchFamily="34" charset="-120"/>
              </a:rPr>
              <a:t>Traductor</a:t>
            </a:r>
            <a:endParaRPr lang="en-US" sz="1600" dirty="0"/>
          </a:p>
        </p:txBody>
      </p:sp>
      <p:sp>
        <p:nvSpPr>
          <p:cNvPr id="11" name="Text 9"/>
          <p:cNvSpPr/>
          <p:nvPr/>
        </p:nvSpPr>
        <p:spPr>
          <a:xfrm>
            <a:off x="6175375" y="3528417"/>
            <a:ext cx="2520950" cy="890191"/>
          </a:xfrm>
          <a:prstGeom prst="roundRect">
            <a:avLst>
              <a:gd name="adj" fmla="val 11057"/>
            </a:avLst>
          </a:prstGeom>
          <a:solidFill>
            <a:srgbClr val="FFFFFF"/>
          </a:solidFill>
          <a:ln w="6350">
            <a:solidFill>
              <a:srgbClr val="D3DDD9"/>
            </a:solidFill>
            <a:prstDash val="solid"/>
          </a:ln>
        </p:spPr>
        <p:txBody>
          <a:bodyPr wrap="square" lIns="152147" tIns="152147" rIns="87377" bIns="152147" rtlCol="0" anchor="t">
            <a:normAutofit/>
          </a:bodyPr>
          <a:lstStyle/>
          <a:p>
            <a:pPr algn="l" indent="0" marL="0">
              <a:lnSpc>
                <a:spcPts val="2080"/>
              </a:lnSpc>
              <a:buNone/>
            </a:pPr>
            <a:r>
              <a:rPr lang="en-US" sz="1600" dirty="0">
                <a:solidFill>
                  <a:srgbClr val="12201D"/>
                </a:solidFill>
                <a:latin typeface="Source Sans 3" pitchFamily="34" charset="0"/>
                <a:ea typeface="Source Sans 3" pitchFamily="34" charset="-122"/>
                <a:cs typeface="Source Sans 3" pitchFamily="34" charset="-120"/>
              </a:rPr>
              <a:t>Asistente de voz</a:t>
            </a:r>
            <a:endParaRPr lang="en-US" sz="1600" dirty="0"/>
          </a:p>
        </p:txBody>
      </p:sp>
      <p:sp>
        <p:nvSpPr>
          <p:cNvPr id="12" name="Text 10"/>
          <p:cNvSpPr/>
          <p:nvPr/>
        </p:nvSpPr>
        <p:spPr>
          <a:xfrm>
            <a:off x="8855075" y="3528417"/>
            <a:ext cx="2520950" cy="890191"/>
          </a:xfrm>
          <a:prstGeom prst="roundRect">
            <a:avLst>
              <a:gd name="adj" fmla="val 11057"/>
            </a:avLst>
          </a:prstGeom>
          <a:solidFill>
            <a:srgbClr val="FFFFFF"/>
          </a:solidFill>
          <a:ln w="6350">
            <a:solidFill>
              <a:srgbClr val="D3DDD9"/>
            </a:solidFill>
            <a:prstDash val="solid"/>
          </a:ln>
        </p:spPr>
        <p:txBody>
          <a:bodyPr wrap="square" lIns="152147" tIns="152147" rIns="87377" bIns="126747" rtlCol="0" anchor="t">
            <a:normAutofit/>
          </a:bodyPr>
          <a:lstStyle/>
          <a:p>
            <a:pPr algn="l" indent="0" marL="0">
              <a:lnSpc>
                <a:spcPts val="2080"/>
              </a:lnSpc>
              <a:buNone/>
            </a:pPr>
            <a:r>
              <a:rPr lang="en-US" sz="1600" dirty="0">
                <a:solidFill>
                  <a:srgbClr val="12201D"/>
                </a:solidFill>
                <a:latin typeface="Source Sans 3" pitchFamily="34" charset="0"/>
                <a:ea typeface="Source Sans 3" pitchFamily="34" charset="-122"/>
                <a:cs typeface="Source Sans 3" pitchFamily="34" charset="-120"/>
              </a:rPr>
              <a:t>Alertas antifraude del banco</a:t>
            </a:r>
            <a:endParaRPr lang="en-US" sz="1600" dirty="0"/>
          </a:p>
        </p:txBody>
      </p:sp>
      <p:sp>
        <p:nvSpPr>
          <p:cNvPr id="13" name="Text 11"/>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14"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0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D1B5"/>
                </a:solidFill>
                <a:latin typeface="JetBrains Mono" pitchFamily="49" charset="0"/>
                <a:ea typeface="JetBrains Mono" pitchFamily="49" charset="-122"/>
                <a:cs typeface="JetBrains Mono" pitchFamily="49" charset="-120"/>
              </a:rPr>
              <a:t>1:05 – 1:15 · DESCANSO</a:t>
            </a:r>
            <a:endParaRPr lang="en-US" sz="1200" dirty="0"/>
          </a:p>
        </p:txBody>
      </p:sp>
      <p:sp>
        <p:nvSpPr>
          <p:cNvPr id="3" name="Text 1"/>
          <p:cNvSpPr/>
          <p:nvPr>
            <p:ph type="title"/>
          </p:nvPr>
        </p:nvSpPr>
        <p:spPr>
          <a:xfrm>
            <a:off x="812800" y="117852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E6EFEC"/>
                </a:solidFill>
                <a:latin typeface="Bricolage Grotesque" pitchFamily="34" charset="0"/>
                <a:ea typeface="Bricolage Grotesque" pitchFamily="34" charset="-122"/>
                <a:cs typeface="Bricolage Grotesque" pitchFamily="34" charset="-120"/>
              </a:rPr>
              <a:t>Descanso</a:t>
            </a:r>
            <a:endParaRPr lang="en-US" sz="5600" dirty="0"/>
          </a:p>
        </p:txBody>
      </p:sp>
      <p:sp>
        <p:nvSpPr>
          <p:cNvPr id="4" name="Text 2"/>
          <p:cNvSpPr/>
          <p:nvPr/>
        </p:nvSpPr>
        <p:spPr>
          <a:xfrm>
            <a:off x="812800" y="5478859"/>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8D5"/>
                </a:solidFill>
                <a:latin typeface="Source Sans 3" pitchFamily="34" charset="0"/>
                <a:ea typeface="Source Sans 3" pitchFamily="34" charset="-122"/>
                <a:cs typeface="Source Sans 3" pitchFamily="34" charset="-120"/>
              </a:rPr>
              <a:t>10 minutos. Volvemos a las [__:__].</a:t>
            </a:r>
            <a:endParaRPr lang="en-US" sz="2200" dirty="0"/>
          </a:p>
        </p:txBody>
      </p:sp>
      <p:pic>
        <p:nvPicPr>
          <p:cNvPr id="5" name="Image 0" descr="Clock">    </p:cNvPr>
          <p:cNvPicPr>
            <a:picLocks noChangeAspect="1"/>
          </p:cNvPicPr>
          <p:nvPr/>
        </p:nvPicPr>
        <p:blipFill>
          <a:blip r:embed="rId1"/>
          <a:srcRect l="0" r="0" t="0" b="0"/>
          <a:stretch/>
        </p:blipFill>
        <p:spPr>
          <a:xfrm>
            <a:off x="10363200" y="812800"/>
            <a:ext cx="1016000" cy="1016000"/>
          </a:xfrm>
          <a:prstGeom prst="rect">
            <a:avLst/>
          </a:prstGeom>
        </p:spPr>
      </p:pic>
      <p:sp>
        <p:nvSpPr>
          <p:cNvPr id="6" name="Text 3"/>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CA7"/>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7" name="Image 1" descr="Logo de Studio-IA">    </p:cNvPr>
          <p:cNvPicPr>
            <a:picLocks noChangeAspect="1"/>
          </p:cNvPicPr>
          <p:nvPr/>
        </p:nvPicPr>
        <p:blipFill>
          <a:blip r:embed="rId2"/>
          <a:srcRect l="0" r="0" t="-62" b="-62"/>
          <a:stretch/>
        </p:blipFill>
        <p:spPr>
          <a:xfrm>
            <a:off x="9601200" y="6134100"/>
            <a:ext cx="1778000" cy="419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1:15 – 1:45 · PRÁCTICA EN PAREJAS</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Entrena tu propia IA</a:t>
            </a:r>
            <a:endParaRPr lang="en-US" sz="3600" dirty="0"/>
          </a:p>
        </p:txBody>
      </p:sp>
      <p:sp>
        <p:nvSpPr>
          <p:cNvPr id="4" name="Shape 2"/>
          <p:cNvSpPr/>
          <p:nvPr/>
        </p:nvSpPr>
        <p:spPr>
          <a:xfrm>
            <a:off x="815975" y="1862336"/>
            <a:ext cx="10560050" cy="2609850"/>
          </a:xfrm>
          <a:prstGeom prst="roundRect">
            <a:avLst>
              <a:gd name="adj" fmla="val 3771"/>
            </a:avLst>
          </a:prstGeom>
          <a:solidFill>
            <a:srgbClr val="FFFFFF"/>
          </a:solidFill>
          <a:ln w="6350">
            <a:solidFill>
              <a:srgbClr val="D3DDD9"/>
            </a:solidFill>
            <a:prstDash val="solid"/>
          </a:ln>
        </p:spPr>
      </p:sp>
      <p:sp>
        <p:nvSpPr>
          <p:cNvPr id="5" name="Text 3"/>
          <p:cNvSpPr/>
          <p:nvPr/>
        </p:nvSpPr>
        <p:spPr>
          <a:xfrm>
            <a:off x="1113532" y="2119511"/>
            <a:ext cx="10245221" cy="2120900"/>
          </a:xfrm>
          <a:prstGeom prst="rect">
            <a:avLst/>
          </a:prstGeom>
          <a:noFill/>
          <a:ln/>
        </p:spPr>
        <p:txBody>
          <a:bodyPr wrap="square" lIns="0" tIns="0" rIns="0" bIns="0" rtlCol="0" anchor="t">
            <a:normAutofit/>
          </a:bodyPr>
          <a:lstStyle/>
          <a:p>
            <a:pPr algn="l" marL="264418" indent="-264418">
              <a:lnSpc>
                <a:spcPts val="3300"/>
              </a:lnSpc>
              <a:buSzPct val="100000"/>
              <a:buFontTx/>
              <a:buAutoNum type="arabicPeriod" startAt="1"/>
            </a:pPr>
            <a:r>
              <a:rPr lang="en-US" sz="2200" dirty="0">
                <a:solidFill>
                  <a:srgbClr val="12201D"/>
                </a:solidFill>
                <a:latin typeface="Source Sans 3" pitchFamily="34" charset="0"/>
                <a:ea typeface="Source Sans 3" pitchFamily="34" charset="-122"/>
                <a:cs typeface="Source Sans 3" pitchFamily="34" charset="-120"/>
              </a:rPr>
              <a:t>Entra a teachablemachine.withgoogle.com</a:t>
            </a:r>
            <a:endParaRPr lang="en-US" sz="2200" dirty="0"/>
          </a:p>
          <a:p>
            <a:pPr algn="l" marL="264418" indent="-264418">
              <a:lnSpc>
                <a:spcPts val="3300"/>
              </a:lnSpc>
              <a:buSzPct val="100000"/>
              <a:buFontTx/>
              <a:buAutoNum type="arabicPeriod" startAt="1"/>
            </a:pPr>
            <a:r>
              <a:rPr lang="en-US" sz="2200" dirty="0">
                <a:solidFill>
                  <a:srgbClr val="12201D"/>
                </a:solidFill>
                <a:latin typeface="Source Sans 3" pitchFamily="34" charset="0"/>
                <a:ea typeface="Source Sans 3" pitchFamily="34" charset="-122"/>
                <a:cs typeface="Source Sans 3" pitchFamily="34" charset="-120"/>
              </a:rPr>
              <a:t>Elige un proyecto de imagen</a:t>
            </a:r>
            <a:endParaRPr lang="en-US" sz="2200" dirty="0"/>
          </a:p>
          <a:p>
            <a:pPr algn="l" marL="264418" indent="-264418">
              <a:lnSpc>
                <a:spcPts val="3300"/>
              </a:lnSpc>
              <a:buSzPct val="100000"/>
              <a:buFontTx/>
              <a:buAutoNum type="arabicPeriod" startAt="1"/>
            </a:pPr>
            <a:r>
              <a:rPr lang="en-US" sz="2200" dirty="0">
                <a:solidFill>
                  <a:srgbClr val="12201D"/>
                </a:solidFill>
                <a:latin typeface="Source Sans 3" pitchFamily="34" charset="0"/>
                <a:ea typeface="Source Sans 3" pitchFamily="34" charset="-122"/>
                <a:cs typeface="Source Sans 3" pitchFamily="34" charset="-120"/>
              </a:rPr>
              <a:t>Crea dos clases: mano abierta y puño</a:t>
            </a:r>
            <a:endParaRPr lang="en-US" sz="2200" dirty="0"/>
          </a:p>
          <a:p>
            <a:pPr algn="l" marL="264418" indent="-264418">
              <a:lnSpc>
                <a:spcPts val="3300"/>
              </a:lnSpc>
              <a:buSzPct val="100000"/>
              <a:buFontTx/>
              <a:buAutoNum type="arabicPeriod" startAt="1"/>
            </a:pPr>
            <a:r>
              <a:rPr lang="en-US" sz="2200" dirty="0">
                <a:solidFill>
                  <a:srgbClr val="12201D"/>
                </a:solidFill>
                <a:latin typeface="Source Sans 3" pitchFamily="34" charset="0"/>
                <a:ea typeface="Source Sans 3" pitchFamily="34" charset="-122"/>
                <a:cs typeface="Source Sans 3" pitchFamily="34" charset="-120"/>
              </a:rPr>
              <a:t>Graba ejemplos con tu cámara</a:t>
            </a:r>
            <a:endParaRPr lang="en-US" sz="2200" dirty="0"/>
          </a:p>
          <a:p>
            <a:pPr algn="l" marL="264418" indent="-264418">
              <a:lnSpc>
                <a:spcPts val="3300"/>
              </a:lnSpc>
              <a:buSzPct val="100000"/>
              <a:buFontTx/>
              <a:buAutoNum type="arabicPeriod" startAt="1"/>
            </a:pPr>
            <a:r>
              <a:rPr lang="en-US" sz="2200" dirty="0">
                <a:solidFill>
                  <a:srgbClr val="12201D"/>
                </a:solidFill>
                <a:latin typeface="Source Sans 3" pitchFamily="34" charset="0"/>
                <a:ea typeface="Source Sans 3" pitchFamily="34" charset="-122"/>
                <a:cs typeface="Source Sans 3" pitchFamily="34" charset="-120"/>
              </a:rPr>
              <a:t>Entrena el modelo y pruébalo</a:t>
            </a:r>
            <a:endParaRPr lang="en-US" sz="2200" dirty="0"/>
          </a:p>
        </p:txBody>
      </p:sp>
      <p:sp>
        <p:nvSpPr>
          <p:cNvPr id="6" name="Text 4"/>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7"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6B5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6D77A"/>
                </a:solidFill>
                <a:latin typeface="JetBrains Mono" pitchFamily="49" charset="0"/>
                <a:ea typeface="JetBrains Mono" pitchFamily="49" charset="-122"/>
                <a:cs typeface="JetBrains Mono" pitchFamily="49" charset="-120"/>
              </a:rPr>
              <a:t>1:15 – 1:45 · PRÁCTICA</a:t>
            </a:r>
            <a:endParaRPr lang="en-US" sz="1200" dirty="0"/>
          </a:p>
        </p:txBody>
      </p:sp>
      <p:sp>
        <p:nvSpPr>
          <p:cNvPr id="3" name="Text 1"/>
          <p:cNvSpPr/>
          <p:nvPr>
            <p:ph type="title"/>
          </p:nvPr>
        </p:nvSpPr>
        <p:spPr>
          <a:xfrm>
            <a:off x="812800" y="117852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FFFFF"/>
                </a:solidFill>
                <a:latin typeface="Bricolage Grotesque" pitchFamily="34" charset="0"/>
                <a:ea typeface="Bricolage Grotesque" pitchFamily="34" charset="-122"/>
                <a:cs typeface="Bricolage Grotesque" pitchFamily="34" charset="-120"/>
              </a:rPr>
              <a:t>Prueba con pocos ejemplos. Luego con muchos.</a:t>
            </a:r>
            <a:endParaRPr lang="en-US" sz="5600" dirty="0"/>
          </a:p>
        </p:txBody>
      </p:sp>
      <p:sp>
        <p:nvSpPr>
          <p:cNvPr id="4" name="Text 2"/>
          <p:cNvSpPr/>
          <p:nvPr/>
        </p:nvSpPr>
        <p:spPr>
          <a:xfrm>
            <a:off x="812800" y="5478859"/>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FFFFF"/>
                </a:solidFill>
                <a:latin typeface="Source Sans 3" pitchFamily="34" charset="0"/>
                <a:ea typeface="Source Sans 3" pitchFamily="34" charset="-122"/>
                <a:cs typeface="Source Sans 3" pitchFamily="34" charset="-120"/>
              </a:rPr>
              <a:t>¿Qué cambia? La IA es tan buena como los ejemplos con los que aprende.</a:t>
            </a:r>
            <a:endParaRPr lang="en-US" sz="2200" dirty="0"/>
          </a:p>
        </p:txBody>
      </p:sp>
      <p:sp>
        <p:nvSpPr>
          <p:cNvPr id="5" name="Text 3"/>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8EFE9"/>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6"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1:45 – 2:20 · PRÁCTICA</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Mi primer chat con una IA</a:t>
            </a:r>
            <a:endParaRPr lang="en-US" sz="3600" dirty="0"/>
          </a:p>
        </p:txBody>
      </p:sp>
      <p:sp>
        <p:nvSpPr>
          <p:cNvPr id="4" name="Shape 2"/>
          <p:cNvSpPr/>
          <p:nvPr/>
        </p:nvSpPr>
        <p:spPr>
          <a:xfrm>
            <a:off x="819150" y="1865511"/>
            <a:ext cx="3416300" cy="1506141"/>
          </a:xfrm>
          <a:prstGeom prst="roundRect">
            <a:avLst>
              <a:gd name="adj" fmla="val 6324"/>
            </a:avLst>
          </a:prstGeom>
          <a:solidFill>
            <a:srgbClr val="FFFFFF"/>
          </a:solidFill>
          <a:ln w="12700">
            <a:solidFill>
              <a:srgbClr val="0B6B5D"/>
            </a:solidFill>
            <a:prstDash val="solid"/>
          </a:ln>
        </p:spPr>
      </p:sp>
      <p:sp>
        <p:nvSpPr>
          <p:cNvPr id="5" name="Text 3"/>
          <p:cNvSpPr/>
          <p:nvPr/>
        </p:nvSpPr>
        <p:spPr>
          <a:xfrm>
            <a:off x="1079500" y="2125861"/>
            <a:ext cx="298246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B6B5D"/>
                </a:solidFill>
                <a:latin typeface="Source Sans 3" pitchFamily="34" charset="0"/>
                <a:ea typeface="Source Sans 3" pitchFamily="34" charset="-122"/>
                <a:cs typeface="Source Sans 3" pitchFamily="34" charset="-120"/>
              </a:rPr>
              <a:t>Gemini</a:t>
            </a:r>
            <a:endParaRPr lang="en-US" sz="2200" dirty="0"/>
          </a:p>
        </p:txBody>
      </p:sp>
      <p:sp>
        <p:nvSpPr>
          <p:cNvPr id="6" name="Text 4"/>
          <p:cNvSpPr/>
          <p:nvPr/>
        </p:nvSpPr>
        <p:spPr>
          <a:xfrm>
            <a:off x="1079500" y="2537321"/>
            <a:ext cx="298246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Entra con tu cuenta de Gmail.</a:t>
            </a:r>
            <a:endParaRPr lang="en-US" sz="1600" dirty="0"/>
          </a:p>
        </p:txBody>
      </p:sp>
      <p:sp>
        <p:nvSpPr>
          <p:cNvPr id="7" name="Text 5"/>
          <p:cNvSpPr/>
          <p:nvPr/>
        </p:nvSpPr>
        <p:spPr>
          <a:xfrm>
            <a:off x="1079500" y="2897981"/>
            <a:ext cx="2982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JetBrains Mono" pitchFamily="49" charset="0"/>
                <a:ea typeface="JetBrains Mono" pitchFamily="49" charset="-122"/>
                <a:cs typeface="JetBrains Mono" pitchFamily="49" charset="-120"/>
              </a:rPr>
              <a:t>gemini.google.com</a:t>
            </a:r>
            <a:endParaRPr lang="en-US" sz="1200" dirty="0"/>
          </a:p>
        </p:txBody>
      </p:sp>
      <p:sp>
        <p:nvSpPr>
          <p:cNvPr id="8" name="Shape 6"/>
          <p:cNvSpPr/>
          <p:nvPr/>
        </p:nvSpPr>
        <p:spPr>
          <a:xfrm>
            <a:off x="4397375" y="1862336"/>
            <a:ext cx="3409950" cy="1512491"/>
          </a:xfrm>
          <a:prstGeom prst="roundRect">
            <a:avLst>
              <a:gd name="adj" fmla="val 6507"/>
            </a:avLst>
          </a:prstGeom>
          <a:solidFill>
            <a:srgbClr val="FFFFFF"/>
          </a:solidFill>
          <a:ln w="6350">
            <a:solidFill>
              <a:srgbClr val="D3DDD9"/>
            </a:solidFill>
            <a:prstDash val="solid"/>
          </a:ln>
        </p:spPr>
      </p:sp>
      <p:sp>
        <p:nvSpPr>
          <p:cNvPr id="9" name="Text 7"/>
          <p:cNvSpPr/>
          <p:nvPr/>
        </p:nvSpPr>
        <p:spPr>
          <a:xfrm>
            <a:off x="4654550" y="2119511"/>
            <a:ext cx="298246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01D"/>
                </a:solidFill>
                <a:latin typeface="Source Sans 3" pitchFamily="34" charset="0"/>
                <a:ea typeface="Source Sans 3" pitchFamily="34" charset="-122"/>
                <a:cs typeface="Source Sans 3" pitchFamily="34" charset="-120"/>
              </a:rPr>
              <a:t>ChatGPT</a:t>
            </a:r>
            <a:endParaRPr lang="en-US" sz="2200" dirty="0"/>
          </a:p>
        </p:txBody>
      </p:sp>
      <p:sp>
        <p:nvSpPr>
          <p:cNvPr id="10" name="Text 8"/>
          <p:cNvSpPr/>
          <p:nvPr/>
        </p:nvSpPr>
        <p:spPr>
          <a:xfrm>
            <a:off x="4654550" y="2530971"/>
            <a:ext cx="31496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Opcional: crea tu cuenta gratuita.</a:t>
            </a:r>
            <a:endParaRPr lang="en-US" sz="1600" dirty="0"/>
          </a:p>
        </p:txBody>
      </p:sp>
      <p:sp>
        <p:nvSpPr>
          <p:cNvPr id="11" name="Text 9"/>
          <p:cNvSpPr/>
          <p:nvPr/>
        </p:nvSpPr>
        <p:spPr>
          <a:xfrm>
            <a:off x="4654550" y="2891631"/>
            <a:ext cx="2982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JetBrains Mono" pitchFamily="49" charset="0"/>
                <a:ea typeface="JetBrains Mono" pitchFamily="49" charset="-122"/>
                <a:cs typeface="JetBrains Mono" pitchFamily="49" charset="-120"/>
              </a:rPr>
              <a:t>chatgpt.com</a:t>
            </a:r>
            <a:endParaRPr lang="en-US" sz="1200" dirty="0"/>
          </a:p>
        </p:txBody>
      </p:sp>
      <p:sp>
        <p:nvSpPr>
          <p:cNvPr id="12" name="Shape 10"/>
          <p:cNvSpPr/>
          <p:nvPr/>
        </p:nvSpPr>
        <p:spPr>
          <a:xfrm>
            <a:off x="7966075" y="1862336"/>
            <a:ext cx="3409950" cy="1512491"/>
          </a:xfrm>
          <a:prstGeom prst="roundRect">
            <a:avLst>
              <a:gd name="adj" fmla="val 6507"/>
            </a:avLst>
          </a:prstGeom>
          <a:solidFill>
            <a:srgbClr val="FFFFFF"/>
          </a:solidFill>
          <a:ln w="6350">
            <a:solidFill>
              <a:srgbClr val="D3DDD9"/>
            </a:solidFill>
            <a:prstDash val="solid"/>
          </a:ln>
        </p:spPr>
      </p:sp>
      <p:sp>
        <p:nvSpPr>
          <p:cNvPr id="13" name="Text 11"/>
          <p:cNvSpPr/>
          <p:nvPr/>
        </p:nvSpPr>
        <p:spPr>
          <a:xfrm>
            <a:off x="8223250" y="2119511"/>
            <a:ext cx="298246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01D"/>
                </a:solidFill>
                <a:latin typeface="Source Sans 3" pitchFamily="34" charset="0"/>
                <a:ea typeface="Source Sans 3" pitchFamily="34" charset="-122"/>
                <a:cs typeface="Source Sans 3" pitchFamily="34" charset="-120"/>
              </a:rPr>
              <a:t>Claude</a:t>
            </a:r>
            <a:endParaRPr lang="en-US" sz="2200" dirty="0"/>
          </a:p>
        </p:txBody>
      </p:sp>
      <p:sp>
        <p:nvSpPr>
          <p:cNvPr id="14" name="Text 12"/>
          <p:cNvSpPr/>
          <p:nvPr/>
        </p:nvSpPr>
        <p:spPr>
          <a:xfrm>
            <a:off x="8223250" y="2530971"/>
            <a:ext cx="31496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Opcional: crea tu cuenta gratuita.</a:t>
            </a:r>
            <a:endParaRPr lang="en-US" sz="1600" dirty="0"/>
          </a:p>
        </p:txBody>
      </p:sp>
      <p:sp>
        <p:nvSpPr>
          <p:cNvPr id="15" name="Text 13"/>
          <p:cNvSpPr/>
          <p:nvPr/>
        </p:nvSpPr>
        <p:spPr>
          <a:xfrm>
            <a:off x="8223250" y="2891631"/>
            <a:ext cx="2982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JetBrains Mono" pitchFamily="49" charset="0"/>
                <a:ea typeface="JetBrains Mono" pitchFamily="49" charset="-122"/>
                <a:cs typeface="JetBrains Mono" pitchFamily="49" charset="-120"/>
              </a:rPr>
              <a:t>claude.ai</a:t>
            </a:r>
            <a:endParaRPr lang="en-US" sz="1200" dirty="0"/>
          </a:p>
        </p:txBody>
      </p:sp>
      <p:sp>
        <p:nvSpPr>
          <p:cNvPr id="16" name="Text 14"/>
          <p:cNvSpPr/>
          <p:nvPr/>
        </p:nvSpPr>
        <p:spPr>
          <a:xfrm>
            <a:off x="812800" y="363200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D49"/>
                </a:solidFill>
                <a:latin typeface="Source Sans 3" pitchFamily="34" charset="0"/>
                <a:ea typeface="Source Sans 3" pitchFamily="34" charset="-122"/>
                <a:cs typeface="Source Sans 3" pitchFamily="34" charset="-120"/>
              </a:rPr>
              <a:t>Todo con planes gratuitos. Si uno se agota, sigues con otro.</a:t>
            </a:r>
            <a:endParaRPr lang="en-US" sz="1600" dirty="0"/>
          </a:p>
        </p:txBody>
      </p:sp>
      <p:sp>
        <p:nvSpPr>
          <p:cNvPr id="17" name="Text 15"/>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18"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1:45 – 2:20 · PRÁCTICA</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Prueba estas preguntas (1 a 3)</a:t>
            </a:r>
            <a:endParaRPr lang="en-US" sz="3600" dirty="0"/>
          </a:p>
        </p:txBody>
      </p:sp>
      <p:sp>
        <p:nvSpPr>
          <p:cNvPr id="4" name="Shape 2"/>
          <p:cNvSpPr/>
          <p:nvPr/>
        </p:nvSpPr>
        <p:spPr>
          <a:xfrm>
            <a:off x="815975" y="1862336"/>
            <a:ext cx="10560050" cy="859730"/>
          </a:xfrm>
          <a:prstGeom prst="roundRect">
            <a:avLst>
              <a:gd name="adj" fmla="val 11448"/>
            </a:avLst>
          </a:prstGeom>
          <a:solidFill>
            <a:srgbClr val="FFFFFF"/>
          </a:solidFill>
          <a:ln w="6350">
            <a:solidFill>
              <a:srgbClr val="D3DDD9"/>
            </a:solidFill>
            <a:prstDash val="solid"/>
          </a:ln>
        </p:spPr>
      </p:sp>
      <p:sp>
        <p:nvSpPr>
          <p:cNvPr id="5" name="Text 3"/>
          <p:cNvSpPr/>
          <p:nvPr/>
        </p:nvSpPr>
        <p:spPr>
          <a:xfrm>
            <a:off x="1073150" y="2017911"/>
            <a:ext cx="103470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D"/>
                </a:solidFill>
                <a:latin typeface="JetBrains Mono" pitchFamily="49" charset="0"/>
                <a:ea typeface="JetBrains Mono" pitchFamily="49" charset="-122"/>
                <a:cs typeface="JetBrains Mono" pitchFamily="49" charset="-120"/>
              </a:rPr>
              <a:t>Pregunta 1</a:t>
            </a:r>
            <a:endParaRPr lang="en-US" sz="1200" dirty="0"/>
          </a:p>
        </p:txBody>
      </p:sp>
      <p:sp>
        <p:nvSpPr>
          <p:cNvPr id="6" name="Text 4"/>
          <p:cNvSpPr/>
          <p:nvPr/>
        </p:nvSpPr>
        <p:spPr>
          <a:xfrm>
            <a:off x="1073150" y="2282031"/>
            <a:ext cx="1034707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JetBrains Mono" pitchFamily="49" charset="0"/>
                <a:ea typeface="JetBrains Mono" pitchFamily="49" charset="-122"/>
                <a:cs typeface="JetBrains Mono" pitchFamily="49" charset="-120"/>
              </a:rPr>
              <a:t>Explícame qué es la inteligencia artificial como si tuviera 10 años.</a:t>
            </a:r>
            <a:endParaRPr lang="en-US" sz="1600" dirty="0"/>
          </a:p>
        </p:txBody>
      </p:sp>
      <p:sp>
        <p:nvSpPr>
          <p:cNvPr id="7" name="Shape 5"/>
          <p:cNvSpPr/>
          <p:nvPr/>
        </p:nvSpPr>
        <p:spPr>
          <a:xfrm>
            <a:off x="815975" y="2880816"/>
            <a:ext cx="10560050" cy="859730"/>
          </a:xfrm>
          <a:prstGeom prst="roundRect">
            <a:avLst>
              <a:gd name="adj" fmla="val 11448"/>
            </a:avLst>
          </a:prstGeom>
          <a:solidFill>
            <a:srgbClr val="FFFFFF"/>
          </a:solidFill>
          <a:ln w="6350">
            <a:solidFill>
              <a:srgbClr val="D3DDD9"/>
            </a:solidFill>
            <a:prstDash val="solid"/>
          </a:ln>
        </p:spPr>
      </p:sp>
      <p:sp>
        <p:nvSpPr>
          <p:cNvPr id="8" name="Text 6"/>
          <p:cNvSpPr/>
          <p:nvPr/>
        </p:nvSpPr>
        <p:spPr>
          <a:xfrm>
            <a:off x="1073150" y="3036391"/>
            <a:ext cx="103470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D"/>
                </a:solidFill>
                <a:latin typeface="JetBrains Mono" pitchFamily="49" charset="0"/>
                <a:ea typeface="JetBrains Mono" pitchFamily="49" charset="-122"/>
                <a:cs typeface="JetBrains Mono" pitchFamily="49" charset="-120"/>
              </a:rPr>
              <a:t>Pregunta 2</a:t>
            </a:r>
            <a:endParaRPr lang="en-US" sz="1200" dirty="0"/>
          </a:p>
        </p:txBody>
      </p:sp>
      <p:sp>
        <p:nvSpPr>
          <p:cNvPr id="9" name="Text 7"/>
          <p:cNvSpPr/>
          <p:nvPr/>
        </p:nvSpPr>
        <p:spPr>
          <a:xfrm>
            <a:off x="1073150" y="3300512"/>
            <a:ext cx="1034707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JetBrains Mono" pitchFamily="49" charset="0"/>
                <a:ea typeface="JetBrains Mono" pitchFamily="49" charset="-122"/>
                <a:cs typeface="JetBrains Mono" pitchFamily="49" charset="-120"/>
              </a:rPr>
              <a:t>Dame 5 ideas de comidas fáciles con arroz, huevo y tomate.</a:t>
            </a:r>
            <a:endParaRPr lang="en-US" sz="1600" dirty="0"/>
          </a:p>
        </p:txBody>
      </p:sp>
      <p:sp>
        <p:nvSpPr>
          <p:cNvPr id="10" name="Shape 8"/>
          <p:cNvSpPr/>
          <p:nvPr/>
        </p:nvSpPr>
        <p:spPr>
          <a:xfrm>
            <a:off x="815975" y="3899297"/>
            <a:ext cx="10560050" cy="1144191"/>
          </a:xfrm>
          <a:prstGeom prst="roundRect">
            <a:avLst>
              <a:gd name="adj" fmla="val 8602"/>
            </a:avLst>
          </a:prstGeom>
          <a:solidFill>
            <a:srgbClr val="FFFFFF"/>
          </a:solidFill>
          <a:ln w="6350">
            <a:solidFill>
              <a:srgbClr val="D3DDD9"/>
            </a:solidFill>
            <a:prstDash val="solid"/>
          </a:ln>
        </p:spPr>
      </p:sp>
      <p:sp>
        <p:nvSpPr>
          <p:cNvPr id="11" name="Text 9"/>
          <p:cNvSpPr/>
          <p:nvPr/>
        </p:nvSpPr>
        <p:spPr>
          <a:xfrm>
            <a:off x="1073150" y="4054872"/>
            <a:ext cx="103470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D"/>
                </a:solidFill>
                <a:latin typeface="JetBrains Mono" pitchFamily="49" charset="0"/>
                <a:ea typeface="JetBrains Mono" pitchFamily="49" charset="-122"/>
                <a:cs typeface="JetBrains Mono" pitchFamily="49" charset="-120"/>
              </a:rPr>
              <a:t>Pregunta 3</a:t>
            </a:r>
            <a:endParaRPr lang="en-US" sz="1200" dirty="0"/>
          </a:p>
        </p:txBody>
      </p:sp>
      <p:sp>
        <p:nvSpPr>
          <p:cNvPr id="12" name="Text 10"/>
          <p:cNvSpPr/>
          <p:nvPr/>
        </p:nvSpPr>
        <p:spPr>
          <a:xfrm>
            <a:off x="1073150" y="4318992"/>
            <a:ext cx="1034707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JetBrains Mono" pitchFamily="49" charset="0"/>
                <a:ea typeface="JetBrains Mono" pitchFamily="49" charset="-122"/>
                <a:cs typeface="JetBrains Mono" pitchFamily="49" charset="-120"/>
              </a:rPr>
              <a:t>Redacta un mensaje de WhatsApp amable para recordarle a un cliente que tiene una factura pendiente.</a:t>
            </a:r>
            <a:endParaRPr lang="en-US" sz="1600" dirty="0"/>
          </a:p>
        </p:txBody>
      </p:sp>
      <p:sp>
        <p:nvSpPr>
          <p:cNvPr id="13" name="Text 11"/>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14"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1:45 – 2:20 · PRÁCTICA</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Preguntas 4 y 5, y la tuya</a:t>
            </a:r>
            <a:endParaRPr lang="en-US" sz="3600" dirty="0"/>
          </a:p>
        </p:txBody>
      </p:sp>
      <p:sp>
        <p:nvSpPr>
          <p:cNvPr id="4" name="Shape 2"/>
          <p:cNvSpPr/>
          <p:nvPr/>
        </p:nvSpPr>
        <p:spPr>
          <a:xfrm>
            <a:off x="815975" y="1862336"/>
            <a:ext cx="10560050" cy="1144191"/>
          </a:xfrm>
          <a:prstGeom prst="roundRect">
            <a:avLst>
              <a:gd name="adj" fmla="val 8602"/>
            </a:avLst>
          </a:prstGeom>
          <a:solidFill>
            <a:srgbClr val="FFFFFF"/>
          </a:solidFill>
          <a:ln w="6350">
            <a:solidFill>
              <a:srgbClr val="D3DDD9"/>
            </a:solidFill>
            <a:prstDash val="solid"/>
          </a:ln>
        </p:spPr>
      </p:sp>
      <p:sp>
        <p:nvSpPr>
          <p:cNvPr id="5" name="Text 3"/>
          <p:cNvSpPr/>
          <p:nvPr/>
        </p:nvSpPr>
        <p:spPr>
          <a:xfrm>
            <a:off x="1073150" y="2017911"/>
            <a:ext cx="103470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D"/>
                </a:solidFill>
                <a:latin typeface="JetBrains Mono" pitchFamily="49" charset="0"/>
                <a:ea typeface="JetBrains Mono" pitchFamily="49" charset="-122"/>
                <a:cs typeface="JetBrains Mono" pitchFamily="49" charset="-120"/>
              </a:rPr>
              <a:t>Pregunta 4</a:t>
            </a:r>
            <a:endParaRPr lang="en-US" sz="1200" dirty="0"/>
          </a:p>
        </p:txBody>
      </p:sp>
      <p:sp>
        <p:nvSpPr>
          <p:cNvPr id="6" name="Text 4"/>
          <p:cNvSpPr/>
          <p:nvPr/>
        </p:nvSpPr>
        <p:spPr>
          <a:xfrm>
            <a:off x="1073150" y="2282031"/>
            <a:ext cx="1034707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JetBrains Mono" pitchFamily="49" charset="0"/>
                <a:ea typeface="JetBrains Mono" pitchFamily="49" charset="-122"/>
                <a:cs typeface="JetBrains Mono" pitchFamily="49" charset="-120"/>
              </a:rPr>
              <a:t>Tradúceme al inglés: Buenos días, quisiera reservar una habitación para dos personas.</a:t>
            </a:r>
            <a:endParaRPr lang="en-US" sz="1600" dirty="0"/>
          </a:p>
        </p:txBody>
      </p:sp>
      <p:sp>
        <p:nvSpPr>
          <p:cNvPr id="7" name="Shape 5"/>
          <p:cNvSpPr/>
          <p:nvPr/>
        </p:nvSpPr>
        <p:spPr>
          <a:xfrm>
            <a:off x="815975" y="3165277"/>
            <a:ext cx="10560050" cy="859730"/>
          </a:xfrm>
          <a:prstGeom prst="roundRect">
            <a:avLst>
              <a:gd name="adj" fmla="val 11448"/>
            </a:avLst>
          </a:prstGeom>
          <a:solidFill>
            <a:srgbClr val="FFFFFF"/>
          </a:solidFill>
          <a:ln w="6350">
            <a:solidFill>
              <a:srgbClr val="D3DDD9"/>
            </a:solidFill>
            <a:prstDash val="solid"/>
          </a:ln>
        </p:spPr>
      </p:sp>
      <p:sp>
        <p:nvSpPr>
          <p:cNvPr id="8" name="Text 6"/>
          <p:cNvSpPr/>
          <p:nvPr/>
        </p:nvSpPr>
        <p:spPr>
          <a:xfrm>
            <a:off x="1073150" y="3320852"/>
            <a:ext cx="103470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D"/>
                </a:solidFill>
                <a:latin typeface="JetBrains Mono" pitchFamily="49" charset="0"/>
                <a:ea typeface="JetBrains Mono" pitchFamily="49" charset="-122"/>
                <a:cs typeface="JetBrains Mono" pitchFamily="49" charset="-120"/>
              </a:rPr>
              <a:t>Pregunta 5</a:t>
            </a:r>
            <a:endParaRPr lang="en-US" sz="1200" dirty="0"/>
          </a:p>
        </p:txBody>
      </p:sp>
      <p:sp>
        <p:nvSpPr>
          <p:cNvPr id="9" name="Text 7"/>
          <p:cNvSpPr/>
          <p:nvPr/>
        </p:nvSpPr>
        <p:spPr>
          <a:xfrm>
            <a:off x="1073150" y="3584972"/>
            <a:ext cx="1034707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01D"/>
                </a:solidFill>
                <a:latin typeface="JetBrains Mono" pitchFamily="49" charset="0"/>
                <a:ea typeface="JetBrains Mono" pitchFamily="49" charset="-122"/>
                <a:cs typeface="JetBrains Mono" pitchFamily="49" charset="-120"/>
              </a:rPr>
              <a:t>¿Qué debo tener en cuenta para sembrar café en una finca de montaña?</a:t>
            </a:r>
            <a:endParaRPr lang="en-US" sz="1600" dirty="0"/>
          </a:p>
        </p:txBody>
      </p:sp>
      <p:sp>
        <p:nvSpPr>
          <p:cNvPr id="10" name="Shape 8"/>
          <p:cNvSpPr/>
          <p:nvPr/>
        </p:nvSpPr>
        <p:spPr>
          <a:xfrm>
            <a:off x="812800" y="4180582"/>
            <a:ext cx="10566400" cy="853380"/>
          </a:xfrm>
          <a:prstGeom prst="roundRect">
            <a:avLst>
              <a:gd name="adj" fmla="val 11906"/>
            </a:avLst>
          </a:prstGeom>
          <a:solidFill>
            <a:srgbClr val="0B6B5D"/>
          </a:solidFill>
          <a:ln/>
        </p:spPr>
      </p:sp>
      <p:sp>
        <p:nvSpPr>
          <p:cNvPr id="11" name="Text 9"/>
          <p:cNvSpPr/>
          <p:nvPr/>
        </p:nvSpPr>
        <p:spPr>
          <a:xfrm>
            <a:off x="1066800" y="4332982"/>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D77A"/>
                </a:solidFill>
                <a:latin typeface="JetBrains Mono" pitchFamily="49" charset="0"/>
                <a:ea typeface="JetBrains Mono" pitchFamily="49" charset="-122"/>
                <a:cs typeface="JetBrains Mono" pitchFamily="49" charset="-120"/>
              </a:rPr>
              <a:t>Tu turno</a:t>
            </a:r>
            <a:endParaRPr lang="en-US" sz="1200" dirty="0"/>
          </a:p>
        </p:txBody>
      </p:sp>
      <p:sp>
        <p:nvSpPr>
          <p:cNvPr id="12" name="Text 10"/>
          <p:cNvSpPr/>
          <p:nvPr/>
        </p:nvSpPr>
        <p:spPr>
          <a:xfrm>
            <a:off x="1066800" y="4597102"/>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Source Sans 3" pitchFamily="34" charset="0"/>
                <a:ea typeface="Source Sans 3" pitchFamily="34" charset="-122"/>
                <a:cs typeface="Source Sans 3" pitchFamily="34" charset="-120"/>
              </a:rPr>
              <a:t>Escribe una pregunta propia sobre algo que te interese de verdad.</a:t>
            </a:r>
            <a:endParaRPr lang="en-US" sz="1600" dirty="0"/>
          </a:p>
        </p:txBody>
      </p:sp>
      <p:sp>
        <p:nvSpPr>
          <p:cNvPr id="13" name="Text 11"/>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14"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2:20 – 2:40 · DINÁMICA</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Pilla a la IA</a:t>
            </a:r>
            <a:endParaRPr lang="en-US" sz="3600" dirty="0"/>
          </a:p>
        </p:txBody>
      </p:sp>
      <p:sp>
        <p:nvSpPr>
          <p:cNvPr id="4" name="Text 2"/>
          <p:cNvSpPr/>
          <p:nvPr/>
        </p:nvSpPr>
        <p:spPr>
          <a:xfrm>
            <a:off x="812800" y="1859161"/>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2201D"/>
                </a:solidFill>
                <a:latin typeface="Source Sans 3" pitchFamily="34" charset="0"/>
                <a:ea typeface="Source Sans 3" pitchFamily="34" charset="-122"/>
                <a:cs typeface="Source Sans 3" pitchFamily="34" charset="-120"/>
              </a:rPr>
              <a:t>Reto: logra que el chatbot se equivoque. Prueba con datos locales o inventados.</a:t>
            </a:r>
            <a:endParaRPr lang="en-US" sz="2200" dirty="0"/>
          </a:p>
        </p:txBody>
      </p:sp>
      <p:sp>
        <p:nvSpPr>
          <p:cNvPr id="5" name="Text 3"/>
          <p:cNvSpPr/>
          <p:nvPr/>
        </p:nvSpPr>
        <p:spPr>
          <a:xfrm>
            <a:off x="815975" y="2479477"/>
            <a:ext cx="10560050" cy="595610"/>
          </a:xfrm>
          <a:prstGeom prst="roundRect">
            <a:avLst>
              <a:gd name="adj" fmla="val 16525"/>
            </a:avLst>
          </a:prstGeom>
          <a:solidFill>
            <a:srgbClr val="FFFFFF"/>
          </a:solidFill>
          <a:ln w="6350">
            <a:solidFill>
              <a:srgbClr val="D3DDD9"/>
            </a:solidFill>
            <a:prstDash val="solid"/>
          </a:ln>
        </p:spPr>
        <p:txBody>
          <a:bodyPr wrap="square" lIns="228347" tIns="126747" rIns="0" bIns="101347" rtlCol="0" anchor="t">
            <a:normAutofit/>
          </a:bodyPr>
          <a:lstStyle/>
          <a:p>
            <a:pPr algn="l" indent="0" marL="0">
              <a:lnSpc>
                <a:spcPts val="2240"/>
              </a:lnSpc>
              <a:buNone/>
            </a:pPr>
            <a:r>
              <a:rPr lang="en-US" sz="1600" dirty="0">
                <a:solidFill>
                  <a:srgbClr val="12201D"/>
                </a:solidFill>
                <a:latin typeface="JetBrains Mono" pitchFamily="49" charset="0"/>
                <a:ea typeface="JetBrains Mono" pitchFamily="49" charset="-122"/>
                <a:cs typeface="JetBrains Mono" pitchFamily="49" charset="-120"/>
              </a:rPr>
              <a:t>Resúmeme el libro Los secretos del café de El Peñol, publicado en 1987.</a:t>
            </a:r>
            <a:endParaRPr lang="en-US" sz="1600" dirty="0"/>
          </a:p>
        </p:txBody>
      </p:sp>
      <p:sp>
        <p:nvSpPr>
          <p:cNvPr id="6" name="Text 4"/>
          <p:cNvSpPr/>
          <p:nvPr/>
        </p:nvSpPr>
        <p:spPr>
          <a:xfrm>
            <a:off x="815975" y="3233837"/>
            <a:ext cx="10560050" cy="880070"/>
          </a:xfrm>
          <a:prstGeom prst="roundRect">
            <a:avLst>
              <a:gd name="adj" fmla="val 11184"/>
            </a:avLst>
          </a:prstGeom>
          <a:solidFill>
            <a:srgbClr val="FFFFFF"/>
          </a:solidFill>
          <a:ln w="6350">
            <a:solidFill>
              <a:srgbClr val="D3DDD9"/>
            </a:solidFill>
            <a:prstDash val="solid"/>
          </a:ln>
        </p:spPr>
        <p:txBody>
          <a:bodyPr wrap="square" lIns="228347" tIns="126747" rIns="0" bIns="101347" rtlCol="0" anchor="t">
            <a:normAutofit/>
          </a:bodyPr>
          <a:lstStyle/>
          <a:p>
            <a:pPr algn="l" indent="0" marL="0">
              <a:lnSpc>
                <a:spcPts val="2240"/>
              </a:lnSpc>
              <a:buNone/>
            </a:pPr>
            <a:r>
              <a:rPr lang="en-US" sz="1600" dirty="0">
                <a:solidFill>
                  <a:srgbClr val="12201D"/>
                </a:solidFill>
                <a:latin typeface="JetBrains Mono" pitchFamily="49" charset="0"/>
                <a:ea typeface="JetBrains Mono" pitchFamily="49" charset="-122"/>
                <a:cs typeface="JetBrains Mono" pitchFamily="49" charset="-120"/>
              </a:rPr>
              <a:t>Dame la biografía de Don Eustaquio Valencia, alcalde de un pueblo de Antioquia en 1932.</a:t>
            </a:r>
            <a:endParaRPr lang="en-US" sz="1600" dirty="0"/>
          </a:p>
        </p:txBody>
      </p:sp>
      <p:sp>
        <p:nvSpPr>
          <p:cNvPr id="7" name="Text 5"/>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8"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20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D1B5"/>
                </a:solidFill>
                <a:latin typeface="JetBrains Mono" pitchFamily="49" charset="0"/>
                <a:ea typeface="JetBrains Mono" pitchFamily="49" charset="-122"/>
                <a:cs typeface="JetBrains Mono" pitchFamily="49" charset="-120"/>
              </a:rPr>
              <a:t>2:20 – 2:40 · DINÁMICA</a:t>
            </a:r>
            <a:endParaRPr lang="en-US" sz="1200" dirty="0"/>
          </a:p>
        </p:txBody>
      </p:sp>
      <p:sp>
        <p:nvSpPr>
          <p:cNvPr id="3" name="Text 1"/>
          <p:cNvSpPr/>
          <p:nvPr>
            <p:ph type="title"/>
          </p:nvPr>
        </p:nvSpPr>
        <p:spPr>
          <a:xfrm>
            <a:off x="812800" y="117852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E6EFEC"/>
                </a:solidFill>
                <a:latin typeface="Bricolage Grotesque" pitchFamily="34" charset="0"/>
                <a:ea typeface="Bricolage Grotesque" pitchFamily="34" charset="-122"/>
                <a:cs typeface="Bricolage Grotesque" pitchFamily="34" charset="-120"/>
              </a:rPr>
              <a:t>Alucinación</a:t>
            </a:r>
            <a:endParaRPr lang="en-US" sz="5600" dirty="0"/>
          </a:p>
        </p:txBody>
      </p:sp>
      <p:sp>
        <p:nvSpPr>
          <p:cNvPr id="4" name="Text 2"/>
          <p:cNvSpPr/>
          <p:nvPr/>
        </p:nvSpPr>
        <p:spPr>
          <a:xfrm>
            <a:off x="812800" y="2077641"/>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8D5"/>
                </a:solidFill>
                <a:latin typeface="Source Sans 3" pitchFamily="34" charset="0"/>
                <a:ea typeface="Source Sans 3" pitchFamily="34" charset="-122"/>
                <a:cs typeface="Source Sans 3" pitchFamily="34" charset="-120"/>
              </a:rPr>
              <a:t>Una respuesta inventada, dicha con total seguridad.</a:t>
            </a:r>
            <a:endParaRPr lang="en-US" sz="2200" dirty="0"/>
          </a:p>
        </p:txBody>
      </p:sp>
      <p:sp>
        <p:nvSpPr>
          <p:cNvPr id="5" name="Text 3"/>
          <p:cNvSpPr/>
          <p:nvPr/>
        </p:nvSpPr>
        <p:spPr>
          <a:xfrm>
            <a:off x="815975" y="4897834"/>
            <a:ext cx="3414117" cy="940991"/>
          </a:xfrm>
          <a:prstGeom prst="roundRect">
            <a:avLst>
              <a:gd name="adj" fmla="val 10460"/>
            </a:avLst>
          </a:prstGeom>
          <a:solidFill>
            <a:srgbClr val="1B2D29"/>
          </a:solidFill>
          <a:ln w="6350">
            <a:solidFill>
              <a:srgbClr val="27382F"/>
            </a:solidFill>
            <a:prstDash val="solid"/>
          </a:ln>
        </p:spPr>
        <p:txBody>
          <a:bodyPr wrap="square" lIns="228347" tIns="177547" rIns="141354" bIns="177547" rtlCol="0" anchor="t">
            <a:normAutofit/>
          </a:bodyPr>
          <a:lstStyle/>
          <a:p>
            <a:pPr algn="l" indent="0" marL="0">
              <a:lnSpc>
                <a:spcPts val="2080"/>
              </a:lnSpc>
              <a:buNone/>
            </a:pPr>
            <a:r>
              <a:rPr lang="en-US" sz="1600" dirty="0">
                <a:solidFill>
                  <a:srgbClr val="E6EFEC"/>
                </a:solidFill>
                <a:latin typeface="Source Sans 3" pitchFamily="34" charset="0"/>
                <a:ea typeface="Source Sans 3" pitchFamily="34" charset="-122"/>
                <a:cs typeface="Source Sans 3" pitchFamily="34" charset="-120"/>
              </a:rPr>
              <a:t>Pide la fuente</a:t>
            </a:r>
            <a:endParaRPr lang="en-US" sz="1600" dirty="0"/>
          </a:p>
        </p:txBody>
      </p:sp>
      <p:sp>
        <p:nvSpPr>
          <p:cNvPr id="6" name="Text 4"/>
          <p:cNvSpPr/>
          <p:nvPr/>
        </p:nvSpPr>
        <p:spPr>
          <a:xfrm>
            <a:off x="4388842" y="4897834"/>
            <a:ext cx="3414216" cy="940991"/>
          </a:xfrm>
          <a:prstGeom prst="roundRect">
            <a:avLst>
              <a:gd name="adj" fmla="val 10460"/>
            </a:avLst>
          </a:prstGeom>
          <a:solidFill>
            <a:srgbClr val="1B2D29"/>
          </a:solidFill>
          <a:ln w="6350">
            <a:solidFill>
              <a:srgbClr val="27382F"/>
            </a:solidFill>
            <a:prstDash val="solid"/>
          </a:ln>
        </p:spPr>
        <p:txBody>
          <a:bodyPr wrap="square" lIns="228347" tIns="177547" rIns="141351" bIns="177547" rtlCol="0" anchor="t">
            <a:normAutofit/>
          </a:bodyPr>
          <a:lstStyle/>
          <a:p>
            <a:pPr algn="l" indent="0" marL="0">
              <a:lnSpc>
                <a:spcPts val="2080"/>
              </a:lnSpc>
              <a:buNone/>
            </a:pPr>
            <a:r>
              <a:rPr lang="en-US" sz="1600" dirty="0">
                <a:solidFill>
                  <a:srgbClr val="E6EFEC"/>
                </a:solidFill>
                <a:latin typeface="Source Sans 3" pitchFamily="34" charset="0"/>
                <a:ea typeface="Source Sans 3" pitchFamily="34" charset="-122"/>
                <a:cs typeface="Source Sans 3" pitchFamily="34" charset="-120"/>
              </a:rPr>
              <a:t>Confírmalo en otro lugar</a:t>
            </a:r>
            <a:endParaRPr lang="en-US" sz="1600" dirty="0"/>
          </a:p>
        </p:txBody>
      </p:sp>
      <p:sp>
        <p:nvSpPr>
          <p:cNvPr id="7" name="Text 5"/>
          <p:cNvSpPr/>
          <p:nvPr/>
        </p:nvSpPr>
        <p:spPr>
          <a:xfrm>
            <a:off x="7961809" y="4897834"/>
            <a:ext cx="3414216" cy="940991"/>
          </a:xfrm>
          <a:prstGeom prst="roundRect">
            <a:avLst>
              <a:gd name="adj" fmla="val 10460"/>
            </a:avLst>
          </a:prstGeom>
          <a:solidFill>
            <a:srgbClr val="1B2D29"/>
          </a:solidFill>
          <a:ln w="6350">
            <a:solidFill>
              <a:srgbClr val="27382F"/>
            </a:solidFill>
            <a:prstDash val="solid"/>
          </a:ln>
        </p:spPr>
        <p:txBody>
          <a:bodyPr wrap="square" lIns="228347" tIns="177547" rIns="141351" bIns="152147" rtlCol="0" anchor="t">
            <a:normAutofit/>
          </a:bodyPr>
          <a:lstStyle/>
          <a:p>
            <a:pPr algn="l" indent="0" marL="0">
              <a:lnSpc>
                <a:spcPts val="2080"/>
              </a:lnSpc>
              <a:buNone/>
            </a:pPr>
            <a:r>
              <a:rPr lang="en-US" sz="1600" dirty="0">
                <a:solidFill>
                  <a:srgbClr val="E6EFEC"/>
                </a:solidFill>
                <a:latin typeface="Source Sans 3" pitchFamily="34" charset="0"/>
                <a:ea typeface="Source Sans 3" pitchFamily="34" charset="-122"/>
                <a:cs typeface="Source Sans 3" pitchFamily="34" charset="-120"/>
              </a:rPr>
              <a:t>Si es importante, verifícalo siempre</a:t>
            </a:r>
            <a:endParaRPr lang="en-US" sz="1600" dirty="0"/>
          </a:p>
        </p:txBody>
      </p:sp>
      <p:sp>
        <p:nvSpPr>
          <p:cNvPr id="8" name="Text 6"/>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CA7"/>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9"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2:40 – 3:00 · CIERRE</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Quiz relámpago</a:t>
            </a:r>
            <a:endParaRPr lang="en-US" sz="3600" dirty="0"/>
          </a:p>
        </p:txBody>
      </p:sp>
      <p:sp>
        <p:nvSpPr>
          <p:cNvPr id="4" name="Shape 2"/>
          <p:cNvSpPr/>
          <p:nvPr/>
        </p:nvSpPr>
        <p:spPr>
          <a:xfrm>
            <a:off x="815975" y="1862336"/>
            <a:ext cx="10560050" cy="2190750"/>
          </a:xfrm>
          <a:prstGeom prst="roundRect">
            <a:avLst>
              <a:gd name="adj" fmla="val 4493"/>
            </a:avLst>
          </a:prstGeom>
          <a:solidFill>
            <a:srgbClr val="FFFFFF"/>
          </a:solidFill>
          <a:ln w="6350">
            <a:solidFill>
              <a:srgbClr val="D3DDD9"/>
            </a:solidFill>
            <a:prstDash val="solid"/>
          </a:ln>
        </p:spPr>
      </p:sp>
      <p:sp>
        <p:nvSpPr>
          <p:cNvPr id="5" name="Text 3"/>
          <p:cNvSpPr/>
          <p:nvPr/>
        </p:nvSpPr>
        <p:spPr>
          <a:xfrm>
            <a:off x="1113532" y="2119511"/>
            <a:ext cx="10245221" cy="1701800"/>
          </a:xfrm>
          <a:prstGeom prst="rect">
            <a:avLst/>
          </a:prstGeom>
          <a:noFill/>
          <a:ln/>
        </p:spPr>
        <p:txBody>
          <a:bodyPr wrap="square" lIns="0" tIns="0" rIns="0" bIns="0" rtlCol="0" anchor="t">
            <a:normAutofit/>
          </a:bodyPr>
          <a:lstStyle/>
          <a:p>
            <a:pPr algn="l" marL="264418" indent="-264418">
              <a:lnSpc>
                <a:spcPts val="3300"/>
              </a:lnSpc>
              <a:buSzPct val="100000"/>
              <a:buFontTx/>
              <a:buAutoNum type="arabicPeriod" startAt="1"/>
            </a:pPr>
            <a:r>
              <a:rPr lang="en-US" sz="2200" dirty="0">
                <a:solidFill>
                  <a:srgbClr val="12201D"/>
                </a:solidFill>
                <a:latin typeface="Source Sans 3" pitchFamily="34" charset="0"/>
                <a:ea typeface="Source Sans 3" pitchFamily="34" charset="-122"/>
                <a:cs typeface="Source Sans 3" pitchFamily="34" charset="-120"/>
              </a:rPr>
              <a:t>¿La IA piensa como una persona?</a:t>
            </a:r>
            <a:endParaRPr lang="en-US" sz="2200" dirty="0"/>
          </a:p>
          <a:p>
            <a:pPr algn="l" marL="264418" indent="-264418">
              <a:lnSpc>
                <a:spcPts val="3300"/>
              </a:lnSpc>
              <a:buSzPct val="100000"/>
              <a:buFontTx/>
              <a:buAutoNum type="arabicPeriod" startAt="1"/>
            </a:pPr>
            <a:r>
              <a:rPr lang="en-US" sz="2200" dirty="0">
                <a:solidFill>
                  <a:srgbClr val="12201D"/>
                </a:solidFill>
                <a:latin typeface="Source Sans 3" pitchFamily="34" charset="0"/>
                <a:ea typeface="Source Sans 3" pitchFamily="34" charset="-122"/>
                <a:cs typeface="Source Sans 3" pitchFamily="34" charset="-120"/>
              </a:rPr>
              <a:t>¿Qué es una alucinación?</a:t>
            </a:r>
            <a:endParaRPr lang="en-US" sz="2200" dirty="0"/>
          </a:p>
          <a:p>
            <a:pPr algn="l" marL="264418" indent="-264418">
              <a:lnSpc>
                <a:spcPts val="3300"/>
              </a:lnSpc>
              <a:buSzPct val="100000"/>
              <a:buFontTx/>
              <a:buAutoNum type="arabicPeriod" startAt="1"/>
            </a:pPr>
            <a:r>
              <a:rPr lang="en-US" sz="2200" dirty="0">
                <a:solidFill>
                  <a:srgbClr val="12201D"/>
                </a:solidFill>
                <a:latin typeface="Source Sans 3" pitchFamily="34" charset="0"/>
                <a:ea typeface="Source Sans 3" pitchFamily="34" charset="-122"/>
                <a:cs typeface="Source Sans 3" pitchFamily="34" charset="-120"/>
              </a:rPr>
              <a:t>Nombra tres lugares donde usas IA sin darte cuenta.</a:t>
            </a:r>
            <a:endParaRPr lang="en-US" sz="2200" dirty="0"/>
          </a:p>
          <a:p>
            <a:pPr algn="l" marL="264418" indent="-264418">
              <a:lnSpc>
                <a:spcPts val="3300"/>
              </a:lnSpc>
              <a:buSzPct val="100000"/>
              <a:buFontTx/>
              <a:buAutoNum type="arabicPeriod" startAt="1"/>
            </a:pPr>
            <a:r>
              <a:rPr lang="en-US" sz="2200" dirty="0">
                <a:solidFill>
                  <a:srgbClr val="12201D"/>
                </a:solidFill>
                <a:latin typeface="Source Sans 3" pitchFamily="34" charset="0"/>
                <a:ea typeface="Source Sans 3" pitchFamily="34" charset="-122"/>
                <a:cs typeface="Source Sans 3" pitchFamily="34" charset="-120"/>
              </a:rPr>
              <a:t>Si entrenas una IA con pocos ejemplos, ¿qué pasa?</a:t>
            </a:r>
            <a:endParaRPr lang="en-US" sz="2200" dirty="0"/>
          </a:p>
        </p:txBody>
      </p:sp>
      <p:sp>
        <p:nvSpPr>
          <p:cNvPr id="6" name="Text 4"/>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7"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5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D"/>
                </a:solidFill>
                <a:latin typeface="JetBrains Mono" pitchFamily="49" charset="0"/>
                <a:ea typeface="JetBrains Mono" pitchFamily="49" charset="-122"/>
                <a:cs typeface="JetBrains Mono" pitchFamily="49" charset="-120"/>
              </a:rPr>
              <a:t>2:40 – 3:00 · CIERRE</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1D"/>
                </a:solidFill>
                <a:latin typeface="Bricolage Grotesque" pitchFamily="34" charset="0"/>
                <a:ea typeface="Bricolage Grotesque" pitchFamily="34" charset="-122"/>
                <a:cs typeface="Bricolage Grotesque" pitchFamily="34" charset="-120"/>
              </a:rPr>
              <a:t>Tu tarea de la semana</a:t>
            </a:r>
            <a:endParaRPr lang="en-US" sz="3600" dirty="0"/>
          </a:p>
        </p:txBody>
      </p:sp>
      <p:sp>
        <p:nvSpPr>
          <p:cNvPr id="4" name="Text 2"/>
          <p:cNvSpPr/>
          <p:nvPr/>
        </p:nvSpPr>
        <p:spPr>
          <a:xfrm>
            <a:off x="812800" y="1859161"/>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2201D"/>
                </a:solidFill>
                <a:latin typeface="Source Sans 3" pitchFamily="34" charset="0"/>
                <a:ea typeface="Source Sans 3" pitchFamily="34" charset="-122"/>
                <a:cs typeface="Source Sans 3" pitchFamily="34" charset="-120"/>
              </a:rPr>
              <a:t>Usa un chatbot 3 veces para algo real de tu vida y llena tu bitácora.</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489002"/>
          <a:ext cx="10553700" cy="1756966"/>
        </p:xfrm>
        <a:graphic>
          <a:graphicData uri="http://schemas.openxmlformats.org/drawingml/2006/table">
            <a:tbl>
              <a:tblPr/>
              <a:tblGrid>
                <a:gridCol w="3588258"/>
                <a:gridCol w="3482721"/>
                <a:gridCol w="3482721"/>
              </a:tblGrid>
              <a:tr h="439241">
                <a:tc>
                  <a:txBody>
                    <a:bodyPr/>
                    <a:lstStyle/>
                    <a:p>
                      <a:pPr indent="0" marL="0">
                        <a:lnSpc>
                          <a:spcPts val="2240"/>
                        </a:lnSpc>
                        <a:buNone/>
                      </a:pPr>
                      <a:r>
                        <a:rPr lang="en-US" sz="1600" b="1" dirty="0">
                          <a:solidFill>
                            <a:srgbClr val="52625E"/>
                          </a:solidFill>
                          <a:latin typeface="Source Sans 3" pitchFamily="34" charset="0"/>
                          <a:ea typeface="Source Sans 3" pitchFamily="34" charset="-122"/>
                          <a:cs typeface="Source Sans 3" pitchFamily="34" charset="-120"/>
                        </a:rPr>
                        <a:t>Qué le pedí</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B3B5B4"/>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B3B5B4"/>
                      </a:solidFill>
                      <a:prstDash val="solid"/>
                      <a:round/>
                      <a:headEnd type="none" w="med" len="med"/>
                      <a:tailEnd type="none" w="med" len="med"/>
                    </a:lnB>
                    <a:solidFill>
                      <a:srgbClr val="E0E3E1"/>
                    </a:solidFill>
                  </a:tcPr>
                </a:tc>
                <a:tc>
                  <a:txBody>
                    <a:bodyPr/>
                    <a:lstStyle/>
                    <a:p>
                      <a:pPr indent="0" marL="0">
                        <a:lnSpc>
                          <a:spcPts val="2240"/>
                        </a:lnSpc>
                        <a:buNone/>
                      </a:pPr>
                      <a:r>
                        <a:rPr lang="en-US" sz="1600" b="1" dirty="0">
                          <a:solidFill>
                            <a:srgbClr val="52625E"/>
                          </a:solidFill>
                          <a:latin typeface="Source Sans 3" pitchFamily="34" charset="0"/>
                          <a:ea typeface="Source Sans 3" pitchFamily="34" charset="-122"/>
                          <a:cs typeface="Source Sans 3" pitchFamily="34" charset="-120"/>
                        </a:rPr>
                        <a:t>Qué respondió</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B3B5B4"/>
                      </a:solidFill>
                      <a:prstDash val="solid"/>
                      <a:round/>
                      <a:headEnd type="none" w="med" len="med"/>
                      <a:tailEnd type="none" w="med" len="med"/>
                    </a:lnL>
                    <a:lnR w="12700" cap="flat" cmpd="sng" algn="ctr">
                      <a:solidFill>
                        <a:srgbClr val="B3B5B4"/>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B3B5B4"/>
                      </a:solidFill>
                      <a:prstDash val="solid"/>
                      <a:round/>
                      <a:headEnd type="none" w="med" len="med"/>
                      <a:tailEnd type="none" w="med" len="med"/>
                    </a:lnB>
                    <a:solidFill>
                      <a:srgbClr val="E0E3E1"/>
                    </a:solidFill>
                  </a:tcPr>
                </a:tc>
                <a:tc>
                  <a:txBody>
                    <a:bodyPr/>
                    <a:lstStyle/>
                    <a:p>
                      <a:pPr indent="0" marL="0">
                        <a:lnSpc>
                          <a:spcPts val="2240"/>
                        </a:lnSpc>
                        <a:buNone/>
                      </a:pPr>
                      <a:r>
                        <a:rPr lang="en-US" sz="1600" b="1" dirty="0">
                          <a:solidFill>
                            <a:srgbClr val="52625E"/>
                          </a:solidFill>
                          <a:latin typeface="Source Sans 3" pitchFamily="34" charset="0"/>
                          <a:ea typeface="Source Sans 3" pitchFamily="34" charset="-122"/>
                          <a:cs typeface="Source Sans 3" pitchFamily="34" charset="-120"/>
                        </a:rPr>
                        <a:t>Qué corregí</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B3B5B4"/>
                      </a:solidFill>
                      <a:prstDash val="solid"/>
                      <a:round/>
                      <a:headEnd type="none" w="med" len="med"/>
                      <a:tailEnd type="none" w="med" len="med"/>
                    </a:lnL>
                    <a:lnR w="12700" cap="flat" cmpd="sng" algn="ctr">
                      <a:solidFill>
                        <a:srgbClr val="B3B5B4"/>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B3B5B4"/>
                      </a:solidFill>
                      <a:prstDash val="solid"/>
                      <a:round/>
                      <a:headEnd type="none" w="med" len="med"/>
                      <a:tailEnd type="none" w="med" len="med"/>
                    </a:lnB>
                    <a:solidFill>
                      <a:srgbClr val="E0E3E1"/>
                    </a:solidFill>
                  </a:tcPr>
                </a:tc>
              </a:tr>
              <a:tr h="439241">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Un mensaje para cobrar una factura</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B3B5B4"/>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Un texto muy formal</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B3B5B4"/>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Lo hice más cercano</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B3B5B4"/>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r>
              <a:tr h="439241">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Tu uso 1</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r>
              <a:tr h="439241">
                <a:tc>
                  <a:txBody>
                    <a:bodyPr/>
                    <a:lstStyle/>
                    <a:p>
                      <a:pPr indent="0" marL="0">
                        <a:lnSpc>
                          <a:spcPts val="2240"/>
                        </a:lnSpc>
                        <a:buNone/>
                      </a:pPr>
                      <a:r>
                        <a:rPr lang="en-US" sz="1600" dirty="0">
                          <a:solidFill>
                            <a:srgbClr val="12201D"/>
                          </a:solidFill>
                          <a:latin typeface="Source Sans 3" pitchFamily="34" charset="0"/>
                          <a:ea typeface="Source Sans 3" pitchFamily="34" charset="-122"/>
                          <a:cs typeface="Source Sans 3" pitchFamily="34" charset="-120"/>
                        </a:rPr>
                        <a:t>Tu uso 2</a:t>
                      </a: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c>
                  <a:txBody>
                    <a:bodyPr/>
                    <a:lstStyle/>
                    <a:p>
                      <a:pPr indent="0" marL="0">
                        <a:lnSpc>
                          <a:spcPts val="2240"/>
                        </a:lnSpc>
                        <a:buNone/>
                      </a:pPr>
                      <a:endParaRPr lang="en-US" sz="1600" dirty="0">
                        <a:latin typeface="Source Sans 3" charset="0"/>
                        <a:ea typeface="Source Sans 3" charset="0"/>
                        <a:cs typeface="Source Sans 3" charset="0"/>
                      </a:endParaRPr>
                    </a:p>
                  </a:txBody>
                  <a:tcPr marL="71120" marR="71120" marT="71120" marB="71120" anchor="t">
                    <a:lnL w="12700" cap="flat" cmpd="sng" algn="ctr">
                      <a:solidFill>
                        <a:srgbClr val="C1C4C2"/>
                      </a:solidFill>
                      <a:prstDash val="solid"/>
                      <a:round/>
                      <a:headEnd type="none" w="med" len="med"/>
                      <a:tailEnd type="none" w="med" len="med"/>
                    </a:lnL>
                    <a:lnR w="12700" cap="flat" cmpd="sng" algn="ctr">
                      <a:solidFill>
                        <a:srgbClr val="C1C4C2"/>
                      </a:solidFill>
                      <a:prstDash val="solid"/>
                      <a:round/>
                      <a:headEnd type="none" w="med" len="med"/>
                      <a:tailEnd type="none" w="med" len="med"/>
                    </a:lnR>
                    <a:lnT w="12700" cap="flat" cmpd="sng" algn="ctr">
                      <a:solidFill>
                        <a:srgbClr val="C1C4C2"/>
                      </a:solidFill>
                      <a:prstDash val="solid"/>
                      <a:round/>
                      <a:headEnd type="none" w="med" len="med"/>
                      <a:tailEnd type="none" w="med" len="med"/>
                    </a:lnT>
                    <a:lnB w="12700" cap="flat" cmpd="sng" algn="ctr">
                      <a:solidFill>
                        <a:srgbClr val="C1C4C2"/>
                      </a:solidFill>
                      <a:prstDash val="solid"/>
                      <a:round/>
                      <a:headEnd type="none" w="med" len="med"/>
                      <a:tailEnd type="none" w="med" len="med"/>
                    </a:lnB>
                  </a:tcPr>
                </a:tc>
              </a:tr>
            </a:tbl>
          </a:graphicData>
        </a:graphic>
      </p:graphicFrame>
      <p:sp>
        <p:nvSpPr>
          <p:cNvPr id="6" name="Text 3"/>
          <p:cNvSpPr/>
          <p:nvPr/>
        </p:nvSpPr>
        <p:spPr>
          <a:xfrm>
            <a:off x="812800" y="6238280"/>
            <a:ext cx="2195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25E"/>
                </a:solidFill>
                <a:latin typeface="Source Sans 3" pitchFamily="34" charset="0"/>
                <a:ea typeface="Source Sans 3" pitchFamily="34" charset="-122"/>
                <a:cs typeface="Source Sans 3" pitchFamily="34" charset="-120"/>
              </a:rPr>
              <a:t>IA para la vida diaria · Clase 1</a:t>
            </a:r>
            <a:endParaRPr lang="en-US" sz="1200" dirty="0"/>
          </a:p>
        </p:txBody>
      </p:sp>
      <p:pic>
        <p:nvPicPr>
          <p:cNvPr id="7"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20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D1B5"/>
                </a:solidFill>
                <a:latin typeface="JetBrains Mono" pitchFamily="49" charset="0"/>
                <a:ea typeface="JetBrains Mono" pitchFamily="49" charset="-122"/>
                <a:cs typeface="JetBrains Mono" pitchFamily="49" charset="-120"/>
              </a:rPr>
              <a:t>PRÓXIMA CLASE</a:t>
            </a:r>
            <a:endParaRPr lang="en-US" sz="1200" dirty="0"/>
          </a:p>
        </p:txBody>
      </p:sp>
      <p:sp>
        <p:nvSpPr>
          <p:cNvPr id="3" name="Text 1"/>
          <p:cNvSpPr/>
          <p:nvPr>
            <p:ph type="title"/>
          </p:nvPr>
        </p:nvSpPr>
        <p:spPr>
          <a:xfrm>
            <a:off x="812800" y="117852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E6EFEC"/>
                </a:solidFill>
                <a:latin typeface="Bricolage Grotesque" pitchFamily="34" charset="0"/>
                <a:ea typeface="Bricolage Grotesque" pitchFamily="34" charset="-122"/>
                <a:cs typeface="Bricolage Grotesque" pitchFamily="34" charset="-120"/>
              </a:rPr>
              <a:t>Hablar con la IA</a:t>
            </a:r>
            <a:endParaRPr lang="en-US" sz="5600" dirty="0"/>
          </a:p>
        </p:txBody>
      </p:sp>
      <p:sp>
        <p:nvSpPr>
          <p:cNvPr id="4" name="Text 2"/>
          <p:cNvSpPr/>
          <p:nvPr/>
        </p:nvSpPr>
        <p:spPr>
          <a:xfrm>
            <a:off x="812800" y="5478859"/>
            <a:ext cx="1137920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8D5"/>
                </a:solidFill>
                <a:latin typeface="Source Sans 3" pitchFamily="34" charset="0"/>
                <a:ea typeface="Source Sans 3" pitchFamily="34" charset="-122"/>
                <a:cs typeface="Source Sans 3" pitchFamily="34" charset="-120"/>
              </a:rPr>
              <a:t>Aprenderemos a pedir las cosas bien con la fórmula R·C·T·F: Rol, Contexto, Tarea y Formato.</a:t>
            </a:r>
            <a:endParaRPr lang="en-US" sz="2200" dirty="0"/>
          </a:p>
        </p:txBody>
      </p:sp>
      <p:sp>
        <p:nvSpPr>
          <p:cNvPr id="5" name="Text 3"/>
          <p:cNvSpPr/>
          <p:nvPr/>
        </p:nvSpPr>
        <p:spPr>
          <a:xfrm>
            <a:off x="812800" y="6238280"/>
            <a:ext cx="28758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CA7"/>
                </a:solidFill>
                <a:latin typeface="Source Sans 3" pitchFamily="34" charset="0"/>
                <a:ea typeface="Source Sans 3" pitchFamily="34" charset="-122"/>
                <a:cs typeface="Source Sans 3" pitchFamily="34" charset="-120"/>
              </a:rPr>
              <a:t>IA para la vida diaria · Clase 1 · Gracias</a:t>
            </a:r>
            <a:endParaRPr lang="en-US" sz="1200" dirty="0"/>
          </a:p>
        </p:txBody>
      </p:sp>
      <p:pic>
        <p:nvPicPr>
          <p:cNvPr id="6" name="Image 0" descr="Logo de Studio-IA">    </p:cNvPr>
          <p:cNvPicPr>
            <a:picLocks noChangeAspect="1"/>
          </p:cNvPicPr>
          <p:nvPr/>
        </p:nvPicPr>
        <p:blipFill>
          <a:blip r:embed="rId1"/>
          <a:srcRect l="0" r="0" t="-62" b="-62"/>
          <a:stretch/>
        </p:blipFill>
        <p:spPr>
          <a:xfrm>
            <a:off x="9601200" y="6134100"/>
            <a:ext cx="1778000" cy="419100"/>
          </a:xfrm>
          <a:prstGeom prst="rect">
            <a:avLst/>
          </a:prstGeom>
        </p:spPr>
      </p:pic>
    </p:spTree>
  </p:cSld>
  <p:clrMapOvr>
    <a:masterClrMapping/>
  </p:clrMapOvr>
</p:sld>
</file>

<file path=ppt/theme/theme1.xml><?xml version="1.0" encoding="utf-8"?>
<a:theme xmlns:a="http://schemas.openxmlformats.org/drawingml/2006/main" name="IA para la Vida Diaria · Clase 1">
  <a:themeElements>
    <a:clrScheme name="IA para la Vida Diaria · Clase 1">
      <a:dk1>
        <a:srgbClr val="12201D"/>
      </a:dk1>
      <a:lt1>
        <a:srgbClr val="F2F5F3"/>
      </a:lt1>
      <a:dk2>
        <a:srgbClr val="4A5553"/>
      </a:dk2>
      <a:lt2>
        <a:srgbClr val="DCE0DE"/>
      </a:lt2>
      <a:accent1>
        <a:srgbClr val="0B6B5D"/>
      </a:accent1>
      <a:accent2>
        <a:srgbClr val="4FD1B5"/>
      </a:accent2>
      <a:accent3>
        <a:srgbClr val="F6D77A"/>
      </a:accent3>
      <a:accent4>
        <a:srgbClr val="F2B632"/>
      </a:accent4>
      <a:accent5>
        <a:srgbClr val="C8553D"/>
      </a:accent5>
      <a:accent6>
        <a:srgbClr val="52625E"/>
      </a:accent6>
      <a:hlink>
        <a:srgbClr val="0563C1"/>
      </a:hlink>
      <a:folHlink>
        <a:srgbClr val="954F72"/>
      </a:folHlink>
    </a:clrScheme>
    <a:fontScheme name="IA para la Vida Diaria · Clase 1">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para la Vida Diaria · Clase 1</dc:title>
  <dc:subject/>
  <dc:creator/>
  <cp:lastModifiedBy/>
  <cp:revision>1</cp:revision>
  <dcterms:created xsi:type="dcterms:W3CDTF">2026-10-01T21:19:21Z</dcterms:created>
  <dcterms:modified xsi:type="dcterms:W3CDTF">2026-10-01T21:19:21Z</dcterms:modified>
</cp:coreProperties>
</file>